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
สวัสดีครับ ทีม OST-1 วันนี้ขอนำเสนอ CarePath ระบบนำทางผู้ป่วยภายในโรงพยาบาล ที่ออกแบบมาให้ทำงานร่วมกับระบบ HIS เดิมของโรงพยาบาลได้โดยตรง โดยไม่ต้องแทนที่ระบบเดิม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
เราเริ่มจากปัญหาที่พบจริงในโรงพยาบาลสามเรื่องหลัก
เรื่องแรก ผู้ป่วยหลงทางเมื่อต้องเดินข้ามอาคารหรือข้ามชั้น โดยเฉพาะผู้สูงอายุ ผู้ใช้รถเข็น และผู้ที่มาโรงพยาบาลเป็นครั้งแรก
เรื่องที่สอง ผู้ป่วยไม่รู้ว่าขั้นตอนถัดไปคืออะไร เหลืออีกกี่ขั้นตอน ต้องรออีกนานแค่ไหน และขั้นตอนถัดไปอยู่ที่จุดไหนของโรงพยาบาล
เรื่องที่สาม เจ้าหน้าที่ต้องเสียเวลาตอบคำถามเรื่องเส้นทางซ้ำ ๆ ทั้งวัน แทนที่จะได้ใช้เวลาไปกับการดูแลผู้ป่วยจริง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~15s
CarePath คือผู้ช่วยนำทางส่วนตัวของผู้ป่วย ตลอดการมาโรงพยาบาลในแต่ละครั้ง เราตั้งใจแยกสองเรื่องนี้ออกจากกันอย่างชัดเจน คือ Care Graph ที่ตอบว่าขั้นตอนถัดไปคืออะไร กับ Navigation Graph ที่ตอบว่าจะไปถึงจุดนั้นได้อย่างไร ทั้งสองส่วนเชื่อมกันผ่านแนวคิด ServicePoint ไปยัง Place เท่านั้น ทำให้การเปลี่ยนขั้นตอนดูแลรักษา กับการเปลี่ยนผังอาคาร ไม่ไปกระทบโค้ดส่วนเดียวกัน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~20s
ก่อนอื่นต้องย้ำให้ชัดเจนว่า HIS ของโรงพยาบาลยังคงเป็นเจ้าของข้อมูลหลักเหมือนเดิมทุกประการ ทั้งข้อมูล visit การมอบหมายคลินิก คำสั่งตรวจ ผลตรวจ และการปิดการตรวจ
CarePath ไม่เข้าไปเขียนทับข้อมูลเหล่านี้เลย สิ่งที่ CarePath ทำคือ "อ่าน" ข้อเท็จจริงเหล่านั้น แล้วคำนวณออกมาเป็นแผนการดูแลผู้ป่วยของตัวเอง ส่วนการจับคู่จุดบริการกับตำแหน่งจริงในอาคาร และการนำทาง ก็เป็นหน้าที่ของ CarePath เองเช่นกัน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~20s
การเชื่อมต่อกับ HIS ออกแบบให้ปลอดภัยและยืดหยุ่น CarePath จะไม่มีการอ่านฐานข้อมูลของ HIS โดยตรงเด็ดขาด แต่เชื่อมผ่าน HIS Adapter ตัวกลางเท่านั้น
วันนี้ Adapter ตัวนี้ต่อกับ Mock HIS สำหรับพัฒนาและสาธิต แต่โครงสร้างเดียวกันนี้รองรับการเปลี่ยนไปต่อกับ HIS จริงของโรงพยาบาลได้ในอนาคต โดยไม่ต้องแก้โค้ดส่วน journey หรือ navigation เลย
ตัว Adapter รับข้อเท็จจริงมาตรฐาน 8 อย่างจาก HIS ผ่าน REST API เช่น การเปิด visit การสั่งตรวจ ผลตรวจออก และการปิดการตรวจ ทุกอย่างเป็น idempotent คือส่งซ้ำได้โดยไม่เกิดผลข้างเคียง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~15s
จากนั้น CarePath นำข้อเท็จจริงเหล่านี้มาคำนวณเป็นแผนการเดินทางของผู้ป่วยด้วยฟังก์ชันที่เรียกว่า Plan ซึ่งเป็น pure function คำนวณใหม่ทุกครั้งที่มีข้อมูลใหม่เข้ามา ไม่มีผลข้างเคียงใด ๆ
กฎที่ใช้คำนวณสะท้อนขั้นตอนจริงของแผนก OPD เช่น ลงทะเบียนก่อนเสมอ ถ้าเป็นนัดหมายที่มีคำสั่งตรวจล่วงหน้าก็จะตรวจ Lab หรือ X-ray ก่อนพบแพทย์ ถ้าหมอสั่งตรวจเพิ่มระหว่างพบผู้ป่วยก็จะกลับมาหาหมอคนเดิมหลังตรวจเสร็จ การเงินเกิดขึ้นครั้งเดียวเสมอไม่ว่าจะกี่คลินิก และห้องยาจะปรากฏเฉพาะเมื่อมีการสั่งยาเท่านั้น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
ต่อไปขอพาไปดูสิ่งที่ผู้ป่วยเห็นจริง ๆ ตั้งแต่ต้นจนจบ
เริ่มจากผู้ป่วยเปิดแอปผ่าน LINE LIFF หรือค้นหาด้วยเลข VN จากนั้นจะเห็น timeline แสดงขั้นตอนที่เสร็จแล้ว ขั้นตอนปัจจุบัน และขั้นตอนถัดไป
เมื่อกดปุ่มนำทาง ระบบจะพาไปยังจุดหมาย โดยต้องรู้ตำแหน่งปัจจุบันก่อนผ่าน QR หรือ Zigbee เพราะในอาคารไม่มีสัญญาณ GPS
และที่สำคัญคือหน้าจอทั้งหมดนี้อัปเดตสดโดยอัตโนมัติทันทีที่มีข้อเท็จจริงใหม่จาก HIS ผู้ป่วยไม่ต้องกดรีเฟรชเอง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~20s
ฝั่งเจ้าหน้าที่ ขอพูดแบบภาพรวมสั้น ๆ มีสี่ส่วนหลักที่ทำเสร็จแล้ว
หนึ่ง การล็อกอินตามสิทธิ์การใช้งาน ด้วยรหัสผ่านที่เข้ารหัสอย่างปลอดภัยและ JWT token
สอง รายการผู้ป่วยที่เปิด visit อยู่ สำหรับเจ้าหน้าที่ลงทะเบียน
สาม คอนโซลจุดบริการ สำหรับเริ่มและจบขั้นตอน รวมถึง override กรณีที่ต้องกลับไปหาหมอคนเดิมผิดไปจากที่ระบบคาดการณ์
และสุดท้าย Mock HIS console ซึ่งใช้แทนระบบ HIS จริงในช่วงพัฒนาเท่านั้น ระบบที่ใช้งานจริงในโรงพยาบาลจะไม่มีหน้านี้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~20s
อีกส่วนที่อยากให้ความสำคัญคือ Executive Dashboard สำหรับผู้บริหาร แสดงเวลารอเฉลี่ยของแต่ละจุดบริการ จุดที่เป็นคอขวดที่ผู้ป่วยรอนานผิดปกติ และเวลารวมที่ผู้ป่วยใช้ในโรงพยาบาลโดยเฉลี่ย
ที่สำคัญคือข้อมูลเหล่านี้มาจากข้อมูลที่ระบบเก็บอยู่แล้วจากฟีเจอร์นำทางผู้ป่วย โรงพยาบาลไม่ต้องติดตั้งอะไรเพิ่มเลย นี่คือเหตุผลที่ผู้บริหารควรสนใจ CarePath ไม่ใช่แค่มุมประสบการณ์ผู้ป่วย แต่เป็นข้อมูลสำหรับตัดสินใจจัดสรรกำลังคนจริง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~20s
มีสองแนวทางที่ผู้มารับบริการจะเปิดใช้งาน CarePath ได้ แนวทางแรกคือผ่าน LINE LIFF ซึ่งใช้งานได้แล้ววันนี้
แนวทางที่สองคือสแกน QR บนใบนำทาง ซึ่งตัว QR นี้ทำเสร็จแล้วจริง ๆ อยู่ในหน้าคอนโซลของ Mock HIS ทุก visit มี QR ของตัวเอง สแกนแล้วเข้าสู่ journey ของผู้ป่วยรายนั้นทันที สิ่งที่เหลืออยู่ไม่ใช่การพัฒนาโค้ดเพิ่ม แต่เป็นขั้นตอนตอนติดตั้งจริงกับโรงพยาบาล คือต้องนำ QR ตัวเดียวกันนี้ไปพิมพ์ลงบนใบนำทางจริงที่มอบให้ผู้ป่วย ซึ่งทุกโรงพยาบาลมีเอกสารนี้อยู่แล้ว ไม่ต้องออกแบบเอกสารใหม่ ทั้งสองแนวทางพาไปสู่หน้า journey 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~20s
ฟีเจอร์ที่ทำเสร็จแล้วจริง คือการแชร์ความคืบหน้าให้ญาติ ผู้ป่วยสร้างลิงก์แชร์จากหน้าจอของตัวเองได้
ญาติที่เปิดลิงก์นี้จะเห็นได้แค่ขั้นตอนปัจจุบันเป็นข้อความอ่านง่าย สถานะหยาบ ๆ ว่ารอ กำลังทำ หรือเสร็จแล้ว ชื่อจุดบริการและชั้น รวมถึงเวลาที่อัปเดตล่าสุด แต่จะไม่เห็นชื่อผู้ป่วย เลข HN หรือ VN รหัสขั้นตอนภายใน หรือรายการคำสั่งตรวจใด ๆ เลย
เหตุผลคือญาติไม่ใช่บุคคลที่ระบบรู้จัก จึงไม่ต้องล็อกอิน ลิงก์หมดอายุอัตโนมัติภายในสี่ชั่วโมง ผู้ป่วยเพิกถอนได้ทุกเมื่อ และตัว token จะไม่ปรากฏใน URL ที่ server มองเห็น จึงไม่มีทางหลุดเข้าไปอยู่ใน 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นำเข้าเดโม ก่อนสลับจอจริง (2:30)
ต่อไปขอสาธิตของจริงครับ โดยจะขับเคลื่อนด้วย Mock HIS ทั้งหมด
เริ่มจากเปิด VN ใหม่แบบสด ๆ เป็นนัดหมายที่มีคำสั่งตรวจล่วงหน้า จากนั้นให้ผลตรวจออก ทำให้ขั้นตอนพบแพทย์พร้อมใช้งาน ระหว่างพบแพทย์จะสั่งตรวจเพิ่ม แล้วให้ผู้ป่วยกลับมาหาหมอคนเดิม ปิดรอบแล้วไปที่การเงินและห้องยา และตลอดทั้งเส้นทางนี้ แผนที่และเส้นทางเดินจะอัปเดตให้เองทุกขั้นตอน
ทั้งหมดนี้คือเส้นทางเดียวกับที่ถูกทดสอบอัตโนมัติทุกวันใน CI ของเรา สิ่งที่ท่านกำลังจะเห็นคือสิ่งที่ผ่านการทดสอบจริงทุกวัน
[สลับไปหน้าจอจริง — Mock HIS console → Patient app → แผนที่/เส้นทาง ตามลำดับ 6 ขั้นในสไลด์ ไม่ต้องพูดซ้ำสไลด์ พูดคุยไปพร้อมคลิกจริง ใช้เวลา 2:30]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
สุดท้ายขอสรุปภาพรวมด้านเทคนิค
ฝั่ง frontend ใช้ React เวอร์ชัน 19 TypeScript และ Vite ร่วมกับ Tailwind และ TanStack Query กับ Router ฝั่ง backend ใช้ภาษา Go กับเฟรมเวิร์ก Fiber เวอร์ชัน 3 ออกแบบ API แบบ contract-first ด้วย OpenAPI ฐานข้อมูลใช้ PostgreSQL การ deploy วันนี้ใช้ Docker Compose แต่โครงสร้างพร้อมขยายไปสู่ Kubernetes ได้ในอนาคต
ในเชิงสถาปัตยกรรม เราออกแบบเป็น modular monolith ไม่ใช่ microservices เพื่อความเร็วในการประสานงานของทีมตอนนี้ แต่ละโมดูลมีขอบเขตชัดเจนแบบ hexagonal จึงแยกออกไปเป็นบริการเดี่ยวในอนาคตได้โดยไม่ต้องเขียนใหม่ทั้งหมด
และแกนกลางของระบบคือสายการคำนวณจากข้อเท็จจริงของ visit ไปสู่แผนการดูแล จุดบริการ สถานที่ จุดในกราฟนำทาง จนถึงเส้นทางสุดท้าย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
ขอบคุณครับ นี่คือภาพรวมของ CarePath ทั้งในมุมผู้ป่วย เจ้าหน้าที่ ผู้บริหาร และด้านเทคนิค ทีม OST-1 พร้อมตอบคำถามครับ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3A3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84632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212080"/>
            <a:ext cx="3108960" cy="3108960"/>
          </a:xfrm>
          <a:prstGeom prst="ellipse">
            <a:avLst/>
          </a:prstGeom>
          <a:solidFill>
            <a:srgbClr val="0F3A3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488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CarePath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นำทางผู้ป่วยในโรงพยาบาล ออกแบบให้ทำงานร่วมกับ HIS เดิมของโรงพยาบาล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การนำเสนอต่อผู้บริหารและทีมโรงพยาบาล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OST-1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ผู้ป่วยหลงทาง เจ้าหน้าที่เสียเวลาซ้ำ 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93338" cy="3200400"/>
          </a:xfrm>
          <a:prstGeom prst="roundRect">
            <a:avLst>
              <a:gd name="adj" fmla="val 3429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5511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38328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หลงทางข้ามอาคาร/ชั้น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23360"/>
            <a:ext cx="2753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โดยเฉพาะผู้สูงอายุ ผู้ใช้รถเข็น และผู้มาครั้งแรก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99178" y="1965960"/>
            <a:ext cx="3393338" cy="3200400"/>
          </a:xfrm>
          <a:prstGeom prst="roundRect">
            <a:avLst>
              <a:gd name="adj" fmla="val 3429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19218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674" y="25511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19218" y="338328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ไม่รู้ขั้นตอนถัดไป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719218" y="4023360"/>
            <a:ext cx="2753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เหลืออีกกี่ขั้นตอน ต้องรออีกนานแค่ไหน ขั้นตอนถัดไปอยู่ที่ใด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49717" y="1965960"/>
            <a:ext cx="3393338" cy="3200400"/>
          </a:xfrm>
          <a:prstGeom prst="roundRect">
            <a:avLst>
              <a:gd name="adj" fmla="val 3429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69757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3" y="25511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69757" y="338328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เจ้าหน้าที่เสียเวลา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569757" y="4023360"/>
            <a:ext cx="2753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ตอบคำถามเรื่องเส้นทางซ้ำ ๆ แทนที่จะดูแลผู้ป่วย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ที่มา: Product Requirements — ลดความสับสนในการเดินทาง, ลดคำถามซ้ำถึงเจ้าหน้าที่, ทำให้เห็น patient flow โดยไม่แทนที่ HIS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แนวคิดของ CAREPATH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ผู้ช่วยนำทางส่วนตัว ตลอดการมาโรงพยาบาลหนึ่งครั้ง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206240" cy="2743200"/>
          </a:xfrm>
          <a:prstGeom prst="roundRect">
            <a:avLst>
              <a:gd name="adj" fmla="val 40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6883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Graph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86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ขั้นตอนถัดไปคืออะไร — สถานะ visit/order/encounter จาก HIS ถูกแปลงเป็นแผนการดูแลที่ผู้ป่วยเข้าใจได้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36815" y="2194560"/>
            <a:ext cx="4206240" cy="2743200"/>
          </a:xfrm>
          <a:prstGeom prst="roundRect">
            <a:avLst>
              <a:gd name="adj" fmla="val 40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56855" y="2514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591" y="26883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56855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Graph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756855" y="3886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จะไปถึงอย่างไร — กราฟเส้นทางเดินจริงในอาคาร คำนวณเส้นทางบนผัง SVG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0" y="3566160"/>
            <a:ext cx="2681935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135728" y="33375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135728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ServicePoint → Place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แยกสองเรื่องนี้ออกจากกันโดยเจตนา — เปลี่ยนขั้นตอนดูแลรักษา กับ ย้ายห้อง ไม่ชนกันในโค้ดเดียวกัน (ADR-0002)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INTEGRATION —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 คือเจ้าของข้อมูล (System of Record)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631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277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21408"/>
            <a:ext cx="69494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Visit, การมอบหมายคลินิก, คำสั่งตรวจ, ผลตรวจ, ปิดการตรวจ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823960" y="21762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823960" y="2176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2615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ระบบต้นทาง (system of record)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355848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60730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77190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3465576"/>
            <a:ext cx="69494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แผนการดูแล (Journey Plan): มีขั้นตอนอะไร ลำดับ สถานะ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823960" y="35204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823960" y="3520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CarePath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959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สร้างขึ้น (derived) จากข้อมูล HIS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4700016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951476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11606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91640" y="4809744"/>
            <a:ext cx="69494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ServicePoint ↔ Place, การนำทางในอาคาร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8823960" y="486460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23960" y="4864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CarePath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823960" y="5303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ไม่เปลี่ยนไปตามข้อมูล HIS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CarePath ไม่เขียนสถานะที่เป็นของ HIS เลย — ได้แค่ "อ่าน" ข้อเท็จจริงมาคำนวณแผนการดูแลของตัวเอง (ADR-0009)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INTEGRATION —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การเชื่อมต่อกับ HIS ออกแบบอย่างไร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43888" y="205740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58288" y="21671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7160" y="2286000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43888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CarePath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24248" y="205740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216712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00" y="2286000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24248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Adapter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0368" y="205740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884768" y="216712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640" y="2286000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70368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HIS / Mock HIS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221328" y="2583180"/>
            <a:ext cx="502920" cy="0"/>
          </a:xfrm>
          <a:prstGeom prst="line">
            <a:avLst/>
          </a:prstGeom>
          <a:noFill/>
          <a:ln w="19050">
            <a:solidFill>
              <a:srgbClr val="5A6E6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67448" y="2583180"/>
            <a:ext cx="502920" cy="0"/>
          </a:xfrm>
          <a:prstGeom prst="line">
            <a:avLst/>
          </a:prstGeom>
          <a:noFill/>
          <a:ln w="19050">
            <a:solidFill>
              <a:srgbClr val="5A6E6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48640" y="3337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ไม่มีการอ่านฐานข้อมูล HIS โดยตรง — เชื่อมผ่าน adapter เท่านั้น เปลี่ยนเป็น HIS จริงภายหลังได้โดยไม่แตะโค้ดส่วน journey/navigation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160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ข้อเท็จจริงมาตรฐานที่ HIS ส่งให้ (REST event feed, idempotent บน eventId):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92328" y="461772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EAF6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92328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visit.opened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489808" y="461772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EAF6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489808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visit.updated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187288" y="461772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EAF6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187288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visit.closed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884768" y="461772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EAF6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884768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order.placed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92328" y="525780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EAF6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92328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order.performed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3489808" y="525780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EAF6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489808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order.resulted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187288" y="525780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EAF6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187288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order.cancelled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884768" y="525780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EAF6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884768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encounter.completed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INTEGRATION —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CarePath แปลง "ข้อเท็จจริง" เป็น "แผนการเดินทาง" อย่างไร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4415" cy="822960"/>
          </a:xfrm>
          <a:prstGeom prst="roundRect">
            <a:avLst>
              <a:gd name="adj" fmla="val 1555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Plan(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facts</a:t>
            </a:r>
            <a:pPr indent="0" marL="0">
              <a:buNone/>
            </a:pPr>
            <a:r>
              <a:rPr lang="en-US" sz="180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→  </a:t>
            </a:r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]Step</a:t>
            </a:r>
            <a:pPr indent="0" marL="0">
              <a:buNone/>
            </a:pPr>
            <a:r>
              <a:rPr lang="en-US" sz="130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deterministic, ไม่มี side-effect, คำนวณใหม่ทุกครั้งที่มีข้อเท็จจริงใหม่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2783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45536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ลงทะเบียนเป็นขั้นแรกเสมอ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5818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75888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นัดหมายที่มีคำสั่งตรวจล่วงหน้า → ตรวจ Lab/X-ray ก่อนพบแพทย์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206240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สั่งตรวจเพิ่มระหว่างพบแพทย์ → กลับมาหาหมอคนเดิม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1888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18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736592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การเงิน (cashier) เกิดขึ้นครั้งเดียวเสมอ ไม่ว่าจะกี่คลินิก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349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266944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ห้องยา เฉพาะเมื่อมีการสั่งยาเท่านั้น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สะท้อน OPD flow จริงของโรงพยาบาล — ตรวจสอบร่วมกับผู้ใช้งานจริงก่อนออกแบบ (ADR-0009)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สิ่งที่ผู้ป่วยเห็น ตั้งแต่ต้นจนจบ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0302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2505456"/>
            <a:ext cx="384048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60220" y="2834640"/>
            <a:ext cx="320040" cy="32004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6022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เปิดแอป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49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LIFF หรือค้นหาด้วยเลข VN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35224" y="2697480"/>
            <a:ext cx="479450" cy="0"/>
          </a:xfrm>
          <a:prstGeom prst="line">
            <a:avLst/>
          </a:prstGeom>
          <a:noFill/>
          <a:ln w="25400">
            <a:solidFill>
              <a:srgbClr val="BFE3D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223918" y="22860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374" y="2505456"/>
            <a:ext cx="384048" cy="3840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81118" y="2834640"/>
            <a:ext cx="320040" cy="32004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81118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69538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เห็น Timeline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3469538" y="3749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เสร็จแล้ว / ขั้นตอนนี้ / ขั้นตอนถัดไป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856122" y="2697480"/>
            <a:ext cx="479450" cy="0"/>
          </a:xfrm>
          <a:prstGeom prst="line">
            <a:avLst/>
          </a:prstGeom>
          <a:noFill/>
          <a:ln w="25400">
            <a:solidFill>
              <a:srgbClr val="BFE3DE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7144817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273" y="2505456"/>
            <a:ext cx="384048" cy="38404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602017" y="2834640"/>
            <a:ext cx="320040" cy="32004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602017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390437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นำทางไปจุดหมาย</a:t>
            </a:r>
            <a:endParaRPr lang="en-US" sz="1550" dirty="0"/>
          </a:p>
        </p:txBody>
      </p:sp>
      <p:sp>
        <p:nvSpPr>
          <p:cNvPr id="23" name="Text 18"/>
          <p:cNvSpPr txBox="1"/>
          <p:nvPr/>
        </p:nvSpPr>
        <p:spPr>
          <a:xfrm>
            <a:off x="6390437" y="3749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ระบุตำแหน่งด้วย QR/Zigbee แล้ววาดเส้นทางบนผัง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777021" y="2697480"/>
            <a:ext cx="479450" cy="0"/>
          </a:xfrm>
          <a:prstGeom prst="line">
            <a:avLst/>
          </a:prstGeom>
          <a:noFill/>
          <a:ln w="25400">
            <a:solidFill>
              <a:srgbClr val="BFE3DE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10065715" y="22860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1" y="2505456"/>
            <a:ext cx="384048" cy="38404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522915" y="2834640"/>
            <a:ext cx="320040" cy="32004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0522915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311335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อัปเดตสดอัตโนมัติ</a:t>
            </a:r>
            <a:endParaRPr lang="en-US" sz="1550" dirty="0"/>
          </a:p>
        </p:txBody>
      </p:sp>
      <p:sp>
        <p:nvSpPr>
          <p:cNvPr id="30" name="Text 24"/>
          <p:cNvSpPr txBox="1"/>
          <p:nvPr/>
        </p:nvSpPr>
        <p:spPr>
          <a:xfrm>
            <a:off x="9311335" y="3749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ขั้นตอน/เส้นทางเปลี่ยนตามข้อเท็จจริงจาก HIS ทันที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475488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GPS ในอาคาร — ตำแหน่งปัจจุบันมาจาก QR (baseline) หรือ Zigbee (ทางเลือกเสริม) ผ่าน interface เดียวกัน (ADR-0004)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ฝั่งเจ้าหน้าที่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สิ่งที่มีให้ใช้งานแล้ว (ภาพรวมสั้น ๆ)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212848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ล็อกอินตามสิทธิ์ (RBAC)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212848"/>
            <a:ext cx="54251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รหัสผ่านแบบ argon2id + JWT access token / refresh token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383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20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310128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รายการผู้ป่วย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3310128"/>
            <a:ext cx="54251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ดูรายการ visit ที่เปิดอยู่ — HIS ยังเป็นผู้เปิด visit เหมือนเดิม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6177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407408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คอนโซลจุดบริการ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943600" y="4407408"/>
            <a:ext cx="54251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เริ่ม/จบขั้นตอน และ override กรณีต้องกลับไปหาหมอคนเดิมผิดจากที่ระบบคาด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39496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577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7150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5504688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HIS console (เดโมเท่านั้น)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0" y="5504688"/>
            <a:ext cx="54251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ใช้แทน HIS จริงระหว่างพัฒนา — ระบบจริงจะไม่มีหน้านี้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มุมมองผู้บริหาร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 — วิเคราะห์คอขวดของโรงพยาบาล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454298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55749" y="2286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1197" y="24414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0175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เวลารอเฉลี่ย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5584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ต่อจุดบริการแต่ละจุด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8" y="2057400"/>
            <a:ext cx="3454298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75808" y="2286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56" y="24414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1578" y="30175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จุดคอขวด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51578" y="335584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จุดบริการที่ผู้ป่วยรอนานผิดปกติ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8757" y="2057400"/>
            <a:ext cx="3454298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95866" y="2286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314" y="24414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71637" y="30175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เวลารวมในโรงพยาบาล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71637" y="335584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เฉลี่ยต่อผู้ป่วยหนึ่งราย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11094415" cy="1508760"/>
          </a:xfrm>
          <a:prstGeom prst="roundRect">
            <a:avLst>
              <a:gd name="adj" fmla="val 7273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6868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ทำไมต้องมีส่วนนี้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466344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ใช้ข้อมูลที่ระบบเก็บอยู่แล้วจากการติดตามขั้นตอนผู้ป่วย ไม่ต้องให้โรงพยาบาลติดตั้งอะไรเพิ่ม — เปลี่ยนผลพลอยได้จากฟีเจอร์นำทางผู้ป่วยให้กลายเป็นข้อมูลตัดสินใจ: จะเพิ่มกำลังคนที่จุดไหน จุดใดคือคอขวดจริง ไม่ใช่แค่ความรู้สึก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จุดเริ่มต้นเข้าใช้งาน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ผู้มารับบริการเปิดใช้งาน CarePath ได้อย่างไร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72888" cy="3063240"/>
          </a:xfrm>
          <a:prstGeom prst="roundRect">
            <a:avLst>
              <a:gd name="adj" fmla="val 3582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81248" y="219456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81248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ใช้งานได้แล้ว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487168"/>
            <a:ext cx="374904" cy="3749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32461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แนวทางที่ 1 — LINE LIFF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749040"/>
            <a:ext cx="463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เปิดผ่าน LINE OA / LIFF โดยตรง หรือค้นหาด้วยเลข VN — ช่องทางที่ใช้งานได้แล้ววันนี้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70168" y="1965960"/>
            <a:ext cx="5272888" cy="3063240"/>
          </a:xfrm>
          <a:prstGeom prst="roundRect">
            <a:avLst>
              <a:gd name="adj" fmla="val 3582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402775" y="219456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02775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ทำแล้ว (Mock HIS)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90208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376" y="2487168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690208" y="32461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แนวทางที่ 2 — สแกน QR บนใบนำทาง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690208" y="374904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HIS สร้าง QR ต่อ visit ให้แล้ว สแกนแล้วเข้าสู่ journey ของผู้ป่วยรายนั้นทันที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690208" y="429768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A1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เหลือ: รพ.จริงต้องนำ QR นี้ไปพิมพ์ลงบนใบนำทางจริงที่มอบให้ผู้ป่วย (ขั้นตอนติดตั้งหน้างาน ไม่ใช่โค้ด)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185084" y="5029200"/>
            <a:ext cx="0" cy="27432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9006611" y="5029200"/>
            <a:ext cx="0" cy="27432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3185084" y="5303520"/>
            <a:ext cx="582152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4449928" y="5074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449928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เข้าสู่หน้า Journey เดียวกัน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เข้ารหัส URL หน้า journey ของ visit นั้นโดยตรง (Mock HIS: GET /api/v1/demo/visits/{visitId}/qrcode.png) — ของจริงคือ QR เดียวกัน แค่เปลี่ยนที่พิมพ์จากหน้าจอคอนโซล ไปเป็นใบนำทางจริง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แชร์ให้ญาติ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แชร์ความคืบหน้าให้ญาติ — เห็นอะไรได้บ้าง และทำไม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64328" cy="2834640"/>
          </a:xfrm>
          <a:prstGeom prst="roundRect">
            <a:avLst>
              <a:gd name="adj" fmla="val 3871"/>
            </a:avLst>
          </a:prstGeom>
          <a:solidFill>
            <a:srgbClr val="E8F8F3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เห็นได้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97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62432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ขั้นตอนปัจจุบัน เป็นข้อความอ่านง่าย (เช่น "รอเจาะเลือด")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312724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สถานะหยาบ: รอ / กำลังทำ / เสร็จแล้ว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033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63016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ชื่อจุดบริการและชั้นที่ตั้ง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0624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413308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เวลาที่อัปเดตล่าสุด และเวลาหมดอายุลิงก์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6278728" y="2011680"/>
            <a:ext cx="5364328" cy="2834640"/>
          </a:xfrm>
          <a:prstGeom prst="roundRect">
            <a:avLst>
              <a:gd name="adj" fmla="val 3871"/>
            </a:avLst>
          </a:prstGeom>
          <a:solidFill>
            <a:srgbClr val="FBEDED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6553048" y="21945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4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ไม่เห็น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26974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64528" y="262432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ชื่อผู้ป่วย, HN/VN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48" y="320040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964528" y="312724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visitId และรหัสขั้นตอน/รหัสคลินิก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048" y="370332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964528" y="363016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รายการคำสั่งตรวจ (order)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048" y="420624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964528" y="413308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รายการขั้นตอนทั้งหมดของผู้ป่วย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330952"/>
            <a:ext cx="457200" cy="4572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1463040" y="507492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ไม่ต้องล็อกอิน · หมดอายุอัตโนมัติใน 4 ชั่วโมง · ผู้ป่วยเพิกถอนได้ทุกเมื่อ ("หยุดแชร์") · token ไม่อยู่ใน URL ที่ server เห็น จึงไม่หลุดเข้า log (ADR-0011)</a:t>
            </a:r>
            <a:endParaRPr lang="en-US" sz="1250" dirty="0"/>
          </a:p>
        </p:txBody>
      </p:sp>
      <p:sp>
        <p:nvSpPr>
          <p:cNvPr id="28" name="Text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F3A3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5120640"/>
            <a:ext cx="3291840" cy="3291840"/>
          </a:xfrm>
          <a:prstGeom prst="ellipse">
            <a:avLst/>
          </a:prstGeom>
          <a:solidFill>
            <a:srgbClr val="0F3A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7132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ขับเคลื่อนด้วย Mock HIS — เปิด VN ใหม่สด ๆ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248716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VN ใหม่ (นัดหมาย + สั่งตรวจล่วงหน้า)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70168" y="25146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7016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73088" y="248716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ผลตรวจออก → ขั้นตอนพบแพทย์พร้อมใช้งาน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3191256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พบแพทย์ สั่งตรวจเพิ่มระหว่างคุย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370168" y="32186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7016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73088" y="3191256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ตรวจเสร็จ กลับมาหาหมอคนเดิม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39227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389534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ปิดรอบ → การเงิน → ห้องยา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370168" y="39227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70168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873088" y="389534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แผนที่/เส้นทางอัปเดตตามทุกขั้นตอน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523848" y="443484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0F3A3E"/>
          </a:solidFill>
          <a:ln/>
        </p:spPr>
      </p:sp>
      <p:sp>
        <p:nvSpPr>
          <p:cNvPr id="27" name="Shape 24"/>
          <p:cNvSpPr/>
          <p:nvPr/>
        </p:nvSpPr>
        <p:spPr>
          <a:xfrm>
            <a:off x="1725016" y="4562856"/>
            <a:ext cx="521208" cy="5212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88" y="4681728"/>
            <a:ext cx="283464" cy="28346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2346808" y="4434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HIS console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724248" y="443484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0F3A3E"/>
          </a:solidFill>
          <a:ln/>
        </p:spPr>
      </p:sp>
      <p:sp>
        <p:nvSpPr>
          <p:cNvPr id="31" name="Shape 27"/>
          <p:cNvSpPr/>
          <p:nvPr/>
        </p:nvSpPr>
        <p:spPr>
          <a:xfrm>
            <a:off x="4925416" y="4562856"/>
            <a:ext cx="521208" cy="5212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288" y="4681728"/>
            <a:ext cx="283464" cy="28346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547208" y="4434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924648" y="443484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0F3A3E"/>
          </a:solidFill>
          <a:ln/>
        </p:spPr>
      </p:sp>
      <p:sp>
        <p:nvSpPr>
          <p:cNvPr id="35" name="Shape 30"/>
          <p:cNvSpPr/>
          <p:nvPr/>
        </p:nvSpPr>
        <p:spPr>
          <a:xfrm>
            <a:off x="8125816" y="4562856"/>
            <a:ext cx="521208" cy="5212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688" y="4681728"/>
            <a:ext cx="283464" cy="28346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747608" y="4434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แผนที่ / เส้นทาง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เส้นทางเดียวกับที่ถูกทดสอบอัตโนมัติทุกวันใน CI (apps/api/internal/e2e) — สิ่งที่สาธิตคือสิ่งที่ทดสอบผ่านจริง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BLUEPRINT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สถาปัตยกรรมเบื้องหลัง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072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679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9352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Vite · Tailwind · TanStack Query/Router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5844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4564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37124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Fiber v3 · REST + OpenAPI contract-first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3616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42336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44897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(pgx) · golang-migrate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13892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5010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2669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วันนี้ · พร้อมขยายสู่ Kubernetes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120640" y="1965960"/>
            <a:ext cx="6522415" cy="233172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5394960" y="2148840"/>
            <a:ext cx="5973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runtime chain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265176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Visit facts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394960" y="292608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Journey plan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394960" y="32004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ServicePoint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47472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Place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5394960" y="374904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NavigationNode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394960" y="402336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Route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120640" y="4480560"/>
            <a:ext cx="6522415" cy="1463040"/>
          </a:xfrm>
          <a:prstGeom prst="roundRect">
            <a:avLst>
              <a:gd name="adj" fmla="val 75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01600" dist="25400" dir="5400000">
              <a:srgbClr val="1B3A38">
                <a:alpha val="15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5394960" y="4617720"/>
            <a:ext cx="5973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monolith, ไม่ใช่ microservices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394960" y="498348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เจตนาเพื่อความเร็วในการประสานงานทีมตอนนี้ แต่ละโมดูลมีขอบเขต (hexagonal) ชัดเจน แยกออกไปเป็นบริการเดี่ยวภายหลังได้โดยไม่ต้องเขียนใหม่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3A3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212080"/>
            <a:ext cx="3108960" cy="3108960"/>
          </a:xfrm>
          <a:prstGeom prst="ellipse">
            <a:avLst/>
          </a:prstGeom>
          <a:solidFill>
            <a:srgbClr val="0F3A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พร้อมตอบคำถาม — Q&amp;A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60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OST-1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นายสมประสงค์ ดำยศ  ·  นายปฐมพงศ์ พรนราดล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2026-09-20T06:59:37Z</dcterms:created>
  <dcterms:modified xsi:type="dcterms:W3CDTF">2026-09-20T06:59:37Z</dcterms:modified>
</cp:coreProperties>
</file>