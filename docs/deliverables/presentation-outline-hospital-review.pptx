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0:10 — เปิดตัว CarePath สั้น ๆ แนะนำทีม แล้วเข้าเรื่องปัญหาทันที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0:30 — ผู้ป่วยหลงทาง / ไม่รู้ขั้นตอนถัดไป / เจ้าหน้าที่เสียเวลาตอบคำถามเส้นทาง พูดสั้น เน้น 3 ประเด็นบนสไลด์ ที่เหลือพูดเสริมด้วยปาก.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~15s — Care Graph ตอบว่า "ต่อไปทำอะไร" Navigation Graph ตอบว่า "ไปยังไง" เชื่อมกันผ่าน ServicePoint→Place เท่านั้น (ADR-0002).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~20s — ย้ำให้ชัดว่า HIS เป็นเจ้าของ visit/order/encounter เสมอ CarePath ได้แค่สร้างแผนดูแลที่ derive มาจากข้อมูลนั้น ไม่ทับสิทธิ์ HIS.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~20s — CarePath ไม่แตะ DB ของ HIS เลย คุยผ่าน adapter ด้วย "ข้อเท็จจริง" 8 อย่างเท่านั้น สลับเป็น HIS จริงทีหลัง แก้แค่ adapter ตัวเดียว (ADR-0005, ADR-0008/0009).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~15s — โชว์ว่า planner เป็น pure function ไม่มีผลข้างเคียง คำนวณใหม่ทุกครั้ง สะท้อน flow OPD จริงรวมถึงกรณีกลับไปหาหมอคนเดิม.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0:30 — เดินตามลำดับ 4 ขั้นนี้ อาจเปิดหน้าจอจริงประกอบสั้น ๆ เน้นว่าไม่มี GPS ในอาคารจึงต้องรู้ตำแหน่งจาก QR/Zigbee ก่อน.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~20s — พูดแบบ list ไม่ลงลึก: login RBAC, รายการผู้ป่วย, คอนโซลจุดบริการ, และ mock HIS console (เดโมเท่านั้น ไม่ใช่ของจริง).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~20s — บอกว่ามีอะไรบ้าง (3 การ์ดบน) แล้วเน้น "ทำไม" — ไม่ต้องเก็บข้อมูลเพิ่ม ใช้ของเดิมที่มีอยู่แล้ว เป็นเหตุผลที่ผู้บริหารควรสนใจ CarePath.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~20s — ย้ำชัดว่านี่คือ "แนวคิด" ยังไม่ได้พัฒนา เป็นการต่อยอด QR pattern ที่มีอยู่แล้ว ถ้าถูกถามว่าทำแล้วหรือยังให้ตอบตรง ๆ ว่ายัง.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~20s — สองคอลัมน์เทียบกัน เห็น/ไม่เห็น แล้วปิดด้วยเหตุผลด้านล่าง: ไม่ต้อง login, หมดอายุเอง, เพิกถอนได้, token ไม่หลุด log. ฟีเจอร์นี้ทำแล้วจริง (ADR-0011).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2:30 — สลับไปหน้าจอสาธิตจริง (Mock HIS console + patient app + แผนที่) เดินตาม 6 ขั้นบนสไลด์นี้เป็น cue card ไม่ต้องพูดซ้ำสไลด์ พูดคุยไปพร้อมคลิกจริง.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0:45 — ภาพรวม stack ซ้าย, core runtime chain กับ modular monolith ขวา ไม่ต้องลงลึกทุกโมดูล ชี้ที่ diagram แล้วอธิบายภาพรวม.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0:15 — ปิดท้ายสั้น ๆ ขอบคุณ เปิดรับคำถาม.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image" Target="../media/image-11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754880" cy="4754880"/>
          </a:xfrm>
          <a:prstGeom prst="ellipse">
            <a:avLst/>
          </a:prstGeom>
          <a:solidFill>
            <a:srgbClr val="0F3A3E"/>
          </a:solidFill>
          <a:ln/>
        </p:spPr>
      </p:sp>
      <p:sp>
        <p:nvSpPr>
          <p:cNvPr id="3" name="Shape 1"/>
          <p:cNvSpPr/>
          <p:nvPr/>
        </p:nvSpPr>
        <p:spPr>
          <a:xfrm>
            <a:off x="10881360" y="4846320"/>
            <a:ext cx="2743200" cy="274320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4" name="Shape 2"/>
          <p:cNvSpPr/>
          <p:nvPr/>
        </p:nvSpPr>
        <p:spPr>
          <a:xfrm>
            <a:off x="-1280160" y="5212080"/>
            <a:ext cx="3108960" cy="3108960"/>
          </a:xfrm>
          <a:prstGeom prst="ellipse">
            <a:avLst/>
          </a:prstGeom>
          <a:solidFill>
            <a:srgbClr val="0F3A3E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188720"/>
            <a:ext cx="777240" cy="77724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1389888"/>
            <a:ext cx="374904" cy="37490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214884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CarePath</a:t>
            </a:r>
            <a:endParaRPr lang="en-US" sz="5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24612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BFE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นำทางผู้ป่วยในโรงพยาบาล ออกแบบให้ทำงานร่วมกับ HIS เดิมของโรงพยาบาล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5852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FE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การนำเสนอต่อผู้บริหารและทีมโรงพยาบาล  · 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ทีม OST-1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ปัญหา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ผู้ป่วยหลงทาง เจ้าหน้าที่เสียเวลาซ้ำ ๆ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393338" cy="3200400"/>
          </a:xfrm>
          <a:prstGeom prst="roundRect">
            <a:avLst>
              <a:gd name="adj" fmla="val 3429"/>
            </a:avLst>
          </a:prstGeom>
          <a:solidFill>
            <a:srgbClr val="EAF6F4"/>
          </a:solidFill>
          <a:ln/>
          <a:effectLst>
            <a:outerShdw sx="100000" sy="100000" kx="0" ky="0" algn="bl" rotWithShape="0" blurRad="101600" dist="25400" dir="5400000">
              <a:srgbClr val="1B3A38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331720"/>
            <a:ext cx="822960" cy="82296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8136" y="2551176"/>
            <a:ext cx="384048" cy="38404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68680" y="3383280"/>
            <a:ext cx="27532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หลงทางข้ามอาคาร/ชั้น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4023360"/>
            <a:ext cx="275325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A6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โดยเฉพาะผู้สูงอายุ ผู้ใช้รถเข็น และผู้มาครั้งแรก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4399178" y="1965960"/>
            <a:ext cx="3393338" cy="3200400"/>
          </a:xfrm>
          <a:prstGeom prst="roundRect">
            <a:avLst>
              <a:gd name="adj" fmla="val 3429"/>
            </a:avLst>
          </a:prstGeom>
          <a:solidFill>
            <a:srgbClr val="EAF6F4"/>
          </a:solidFill>
          <a:ln/>
          <a:effectLst>
            <a:outerShdw sx="100000" sy="100000" kx="0" ky="0" algn="bl" rotWithShape="0" blurRad="101600" dist="25400" dir="5400000">
              <a:srgbClr val="1B3A38">
                <a:alpha val="1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19218" y="2331720"/>
            <a:ext cx="822960" cy="82296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8674" y="2551176"/>
            <a:ext cx="384048" cy="38404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719218" y="3383280"/>
            <a:ext cx="27532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ไม่รู้ขั้นตอนถัดไป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4719218" y="4023360"/>
            <a:ext cx="275325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A6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เหลืออีกกี่ขั้นตอน ต้องรออีกนานแค่ไหน ขั้นตอนถัดไปอยู่ที่ใด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8249717" y="1965960"/>
            <a:ext cx="3393338" cy="3200400"/>
          </a:xfrm>
          <a:prstGeom prst="roundRect">
            <a:avLst>
              <a:gd name="adj" fmla="val 3429"/>
            </a:avLst>
          </a:prstGeom>
          <a:solidFill>
            <a:srgbClr val="EAF6F4"/>
          </a:solidFill>
          <a:ln/>
          <a:effectLst>
            <a:outerShdw sx="100000" sy="100000" kx="0" ky="0" algn="bl" rotWithShape="0" blurRad="101600" dist="25400" dir="5400000">
              <a:srgbClr val="1B3A38">
                <a:alpha val="1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569757" y="2331720"/>
            <a:ext cx="822960" cy="82296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89213" y="2551176"/>
            <a:ext cx="384048" cy="384048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569757" y="3383280"/>
            <a:ext cx="27532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เจ้าหน้าที่เสียเวลา</a:t>
            </a:r>
            <a:endParaRPr lang="en-US" sz="1800" dirty="0"/>
          </a:p>
        </p:txBody>
      </p:sp>
      <p:sp>
        <p:nvSpPr>
          <p:cNvPr id="18" name="Text 13"/>
          <p:cNvSpPr txBox="1"/>
          <p:nvPr/>
        </p:nvSpPr>
        <p:spPr>
          <a:xfrm>
            <a:off x="8569757" y="4023360"/>
            <a:ext cx="275325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A6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ตอบคำถามเรื่องเส้นทางซ้ำ ๆ แทนที่จะดูแลผู้ป่วย</a:t>
            </a:r>
            <a:endParaRPr lang="en-US" sz="1350" dirty="0"/>
          </a:p>
        </p:txBody>
      </p:sp>
      <p:sp>
        <p:nvSpPr>
          <p:cNvPr id="19" name="Text 14"/>
          <p:cNvSpPr txBox="1"/>
          <p:nvPr/>
        </p:nvSpPr>
        <p:spPr>
          <a:xfrm>
            <a:off x="548640" y="61722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ที่มา: Product Requirements — ลดความสับสนในการเดินทาง, ลดคำถามซ้ำถึงเจ้าหน้าที่, ทำให้เห็น patient flow โดยไม่แทนที่ HIS</a:t>
            </a:r>
            <a:endParaRPr lang="en-US" sz="1100" dirty="0"/>
          </a:p>
        </p:txBody>
      </p:sp>
      <p:sp>
        <p:nvSpPr>
          <p:cNvPr id="21" name="Text 15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แนวคิดของ CAREPATH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ผู้ช่วยนำทางส่วนตัว ตลอดการมาโรงพยาบาลหนึ่งครั้ง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4206240" cy="2743200"/>
          </a:xfrm>
          <a:prstGeom prst="roundRect">
            <a:avLst>
              <a:gd name="adj" fmla="val 4000"/>
            </a:avLst>
          </a:prstGeom>
          <a:solidFill>
            <a:srgbClr val="EAF6F4"/>
          </a:solidFill>
          <a:ln/>
          <a:effectLst>
            <a:outerShdw sx="100000" sy="100000" kx="0" ky="0" algn="bl" rotWithShape="0" blurRad="101600" dist="25400" dir="5400000">
              <a:srgbClr val="1B3A38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514600"/>
            <a:ext cx="731520" cy="73152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" y="2688336"/>
            <a:ext cx="384048" cy="38404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68680" y="33832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Care Graph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388620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6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ขั้นตอนถัดไปคืออะไร — สถานะ visit/order/encounter จาก HIS ถูกแปลงเป็นแผนการดูแลที่ผู้ป่วยเข้าใจได้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7436815" y="2194560"/>
            <a:ext cx="4206240" cy="2743200"/>
          </a:xfrm>
          <a:prstGeom prst="roundRect">
            <a:avLst>
              <a:gd name="adj" fmla="val 4000"/>
            </a:avLst>
          </a:prstGeom>
          <a:solidFill>
            <a:srgbClr val="EAF6F4"/>
          </a:solidFill>
          <a:ln/>
          <a:effectLst>
            <a:outerShdw sx="100000" sy="100000" kx="0" ky="0" algn="bl" rotWithShape="0" blurRad="101600" dist="25400" dir="5400000">
              <a:srgbClr val="1B3A38">
                <a:alpha val="1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756855" y="2514600"/>
            <a:ext cx="731520" cy="731520"/>
          </a:xfrm>
          <a:prstGeom prst="ellipse">
            <a:avLst/>
          </a:prstGeom>
          <a:solidFill>
            <a:srgbClr val="00A896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0591" y="2688336"/>
            <a:ext cx="384048" cy="38404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756855" y="33832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Navigation Graph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7756855" y="388620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6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จะไปถึงอย่างไร — กราฟเส้นทางเดินจริงในอาคาร คำนวณเส้นทางบนผัง SVG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4754880" y="3566160"/>
            <a:ext cx="2681935" cy="0"/>
          </a:xfrm>
          <a:prstGeom prst="line">
            <a:avLst/>
          </a:prstGeom>
          <a:noFill/>
          <a:ln w="25400">
            <a:solidFill>
              <a:srgbClr val="00A896"/>
            </a:solidFill>
            <a:prstDash val="dash"/>
          </a:ln>
        </p:spPr>
      </p:sp>
      <p:sp>
        <p:nvSpPr>
          <p:cNvPr id="15" name="Shape 11"/>
          <p:cNvSpPr/>
          <p:nvPr/>
        </p:nvSpPr>
        <p:spPr>
          <a:xfrm>
            <a:off x="5135728" y="3337560"/>
            <a:ext cx="1920240" cy="457200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5135728" y="333756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ServicePoint → Place</a:t>
            </a:r>
            <a:endParaRPr lang="en-US" sz="1050" dirty="0"/>
          </a:p>
        </p:txBody>
      </p:sp>
      <p:sp>
        <p:nvSpPr>
          <p:cNvPr id="17" name="Text 13"/>
          <p:cNvSpPr txBox="1"/>
          <p:nvPr/>
        </p:nvSpPr>
        <p:spPr>
          <a:xfrm>
            <a:off x="548640" y="61722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แยกสองเรื่องนี้ออกจากกันโดยเจตนา — เปลี่ยนขั้นตอนดูแลรักษา กับ ย้ายห้อง ไม่ชนกันในโค้ดเดียวกัน (ADR-0002)</a:t>
            </a:r>
            <a:endParaRPr lang="en-US" sz="1100" dirty="0"/>
          </a:p>
        </p:txBody>
      </p:sp>
      <p:sp>
        <p:nvSpPr>
          <p:cNvPr id="19" name="Text 14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 INTEGRATION — 1/3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HIS คือเจ้าของข้อมูล (System of Record)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11094415" cy="1143000"/>
          </a:xfrm>
          <a:prstGeom prst="roundRect">
            <a:avLst>
              <a:gd name="adj" fmla="val 9600"/>
            </a:avLst>
          </a:prstGeom>
          <a:solidFill>
            <a:srgbClr val="EAF6F4"/>
          </a:solidFill>
          <a:ln/>
          <a:effectLst>
            <a:outerShdw sx="100000" sy="100000" kx="0" ky="0" algn="bl" rotWithShape="0" blurRad="101600" dist="25400" dir="5400000">
              <a:srgbClr val="1B3A38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263140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2427732"/>
            <a:ext cx="310896" cy="31089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91640" y="2121408"/>
            <a:ext cx="694944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7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Visit, การมอบหมายคลินิก, คำสั่งตรวจ, ผลตรวจ, ปิดการตรวจ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8823960" y="21762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823960" y="21762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823960" y="2615184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A6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ระบบต้นทาง (system of record)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548640" y="3355848"/>
            <a:ext cx="11094415" cy="1143000"/>
          </a:xfrm>
          <a:prstGeom prst="roundRect">
            <a:avLst>
              <a:gd name="adj" fmla="val 9600"/>
            </a:avLst>
          </a:prstGeom>
          <a:solidFill>
            <a:srgbClr val="EAF6F4"/>
          </a:solidFill>
          <a:ln/>
          <a:effectLst>
            <a:outerShdw sx="100000" sy="100000" kx="0" ky="0" algn="bl" rotWithShape="0" blurRad="101600" dist="25400" dir="5400000">
              <a:srgbClr val="1B3A38">
                <a:alpha val="1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822960" y="3607308"/>
            <a:ext cx="640080" cy="640080"/>
          </a:xfrm>
          <a:prstGeom prst="ellipse">
            <a:avLst/>
          </a:prstGeom>
          <a:solidFill>
            <a:srgbClr val="00A896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3771900"/>
            <a:ext cx="310896" cy="310896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691640" y="3465576"/>
            <a:ext cx="694944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7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แผนการดูแล (Journey Plan): มีขั้นตอนอะไร ลำดับ สถานะ</a:t>
            </a:r>
            <a:endParaRPr lang="en-US" sz="1450" dirty="0"/>
          </a:p>
        </p:txBody>
      </p:sp>
      <p:sp>
        <p:nvSpPr>
          <p:cNvPr id="15" name="Shape 11"/>
          <p:cNvSpPr/>
          <p:nvPr/>
        </p:nvSpPr>
        <p:spPr>
          <a:xfrm>
            <a:off x="8823960" y="352044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00A896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8823960" y="35204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CarePath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8823960" y="395935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A6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สร้างขึ้น (derived) จากข้อมูล HIS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548640" y="4700016"/>
            <a:ext cx="11094415" cy="1143000"/>
          </a:xfrm>
          <a:prstGeom prst="roundRect">
            <a:avLst>
              <a:gd name="adj" fmla="val 9600"/>
            </a:avLst>
          </a:prstGeom>
          <a:solidFill>
            <a:srgbClr val="EAF6F4"/>
          </a:solidFill>
          <a:ln/>
          <a:effectLst>
            <a:outerShdw sx="100000" sy="100000" kx="0" ky="0" algn="bl" rotWithShape="0" blurRad="101600" dist="25400" dir="5400000">
              <a:srgbClr val="1B3A38">
                <a:alpha val="15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22960" y="4951476"/>
            <a:ext cx="640080" cy="640080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5116068"/>
            <a:ext cx="310896" cy="310896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691640" y="4809744"/>
            <a:ext cx="694944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7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ServicePoint ↔ Place, การนำทางในอาคาร</a:t>
            </a:r>
            <a:endParaRPr lang="en-US" sz="1450" dirty="0"/>
          </a:p>
        </p:txBody>
      </p:sp>
      <p:sp>
        <p:nvSpPr>
          <p:cNvPr id="22" name="Shape 17"/>
          <p:cNvSpPr/>
          <p:nvPr/>
        </p:nvSpPr>
        <p:spPr>
          <a:xfrm>
            <a:off x="8823960" y="4864608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00A896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8823960" y="486460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CarePath</a:t>
            </a:r>
            <a:endParaRPr lang="en-US" sz="1400" dirty="0"/>
          </a:p>
        </p:txBody>
      </p:sp>
      <p:sp>
        <p:nvSpPr>
          <p:cNvPr id="24" name="Text 19"/>
          <p:cNvSpPr txBox="1"/>
          <p:nvPr/>
        </p:nvSpPr>
        <p:spPr>
          <a:xfrm>
            <a:off x="8823960" y="53035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A6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ไม่เปลี่ยนไปตามข้อมูล HIS</a:t>
            </a:r>
            <a:endParaRPr lang="en-US" sz="1050" dirty="0"/>
          </a:p>
        </p:txBody>
      </p:sp>
      <p:sp>
        <p:nvSpPr>
          <p:cNvPr id="25" name="Text 20"/>
          <p:cNvSpPr txBox="1"/>
          <p:nvPr/>
        </p:nvSpPr>
        <p:spPr>
          <a:xfrm>
            <a:off x="548640" y="61722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CarePath ไม่เขียนสถานะที่เป็นของ HIS เลย — ได้แค่ "อ่าน" ข้อเท็จจริงมาคำนวณแผนการดูแลของตัวเอง (ADR-0009)</a:t>
            </a:r>
            <a:endParaRPr lang="en-US" sz="1100" dirty="0"/>
          </a:p>
        </p:txBody>
      </p:sp>
      <p:sp>
        <p:nvSpPr>
          <p:cNvPr id="27" name="Text 21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 INTEGRATION — 2/3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การเชื่อมต่อกับ HIS ออกแบบอย่างไร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843888" y="2057400"/>
            <a:ext cx="2377440" cy="1051560"/>
          </a:xfrm>
          <a:prstGeom prst="roundRect">
            <a:avLst>
              <a:gd name="adj" fmla="val 10435"/>
            </a:avLst>
          </a:prstGeom>
          <a:solidFill>
            <a:srgbClr val="EAF6F4"/>
          </a:solidFill>
          <a:ln/>
          <a:effectLst>
            <a:outerShdw sx="100000" sy="100000" kx="0" ky="0" algn="bl" rotWithShape="0" blurRad="101600" dist="25400" dir="5400000">
              <a:srgbClr val="1B3A38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58288" y="2167128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77160" y="2286000"/>
            <a:ext cx="265176" cy="26517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843888" y="27432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CarePath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724248" y="2057400"/>
            <a:ext cx="2743200" cy="1051560"/>
          </a:xfrm>
          <a:prstGeom prst="roundRect">
            <a:avLst>
              <a:gd name="adj" fmla="val 10435"/>
            </a:avLst>
          </a:prstGeom>
          <a:solidFill>
            <a:srgbClr val="028090"/>
          </a:solidFill>
          <a:ln/>
          <a:effectLst>
            <a:outerShdw sx="100000" sy="100000" kx="0" ky="0" algn="bl" rotWithShape="0" blurRad="101600" dist="25400" dir="5400000">
              <a:srgbClr val="1B3A38">
                <a:alpha val="1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821528" y="2167128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0400" y="2286000"/>
            <a:ext cx="265176" cy="26517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724248" y="27432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 Adapter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970368" y="2057400"/>
            <a:ext cx="2377440" cy="1051560"/>
          </a:xfrm>
          <a:prstGeom prst="roundRect">
            <a:avLst>
              <a:gd name="adj" fmla="val 10435"/>
            </a:avLst>
          </a:prstGeom>
          <a:solidFill>
            <a:srgbClr val="EAF6F4"/>
          </a:solidFill>
          <a:ln/>
          <a:effectLst>
            <a:outerShdw sx="100000" sy="100000" kx="0" ky="0" algn="bl" rotWithShape="0" blurRad="101600" dist="25400" dir="5400000">
              <a:srgbClr val="1B3A38">
                <a:alpha val="15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8884768" y="2167128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03640" y="2286000"/>
            <a:ext cx="265176" cy="26517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7970368" y="27432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HIS / Mock HIS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4221328" y="2583180"/>
            <a:ext cx="502920" cy="0"/>
          </a:xfrm>
          <a:prstGeom prst="line">
            <a:avLst/>
          </a:prstGeom>
          <a:noFill/>
          <a:ln w="19050">
            <a:solidFill>
              <a:srgbClr val="5A6E6C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7467448" y="2583180"/>
            <a:ext cx="502920" cy="0"/>
          </a:xfrm>
          <a:prstGeom prst="line">
            <a:avLst/>
          </a:prstGeom>
          <a:noFill/>
          <a:ln w="19050">
            <a:solidFill>
              <a:srgbClr val="5A6E6C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548640" y="3337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6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ไม่มีการอ่านฐานข้อมูล HIS โดยตรง — เชื่อมผ่าน adapter เท่านั้น เปลี่ยนเป็น HIS จริงภายหลังได้โดยไม่แตะโค้ดส่วน journey/navigation</a:t>
            </a:r>
            <a:endParaRPr lang="en-US" sz="1300" dirty="0"/>
          </a:p>
        </p:txBody>
      </p:sp>
      <p:sp>
        <p:nvSpPr>
          <p:cNvPr id="19" name="Text 14"/>
          <p:cNvSpPr txBox="1"/>
          <p:nvPr/>
        </p:nvSpPr>
        <p:spPr>
          <a:xfrm>
            <a:off x="548640" y="41605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ข้อเท็จจริงมาตรฐานที่ HIS ส่งให้ (REST event feed, idempotent บน eventId):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792328" y="4617720"/>
            <a:ext cx="2514600" cy="457200"/>
          </a:xfrm>
          <a:prstGeom prst="roundRect">
            <a:avLst>
              <a:gd name="adj" fmla="val 20000"/>
            </a:avLst>
          </a:prstGeom>
          <a:solidFill>
            <a:srgbClr val="EAF6F4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792328" y="461772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280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visit.opened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3489808" y="4617720"/>
            <a:ext cx="2514600" cy="457200"/>
          </a:xfrm>
          <a:prstGeom prst="roundRect">
            <a:avLst>
              <a:gd name="adj" fmla="val 20000"/>
            </a:avLst>
          </a:prstGeom>
          <a:solidFill>
            <a:srgbClr val="EAF6F4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3489808" y="461772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280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visit.updated</a:t>
            </a:r>
            <a:endParaRPr lang="en-US" sz="1150" dirty="0"/>
          </a:p>
        </p:txBody>
      </p:sp>
      <p:sp>
        <p:nvSpPr>
          <p:cNvPr id="24" name="Shape 19"/>
          <p:cNvSpPr/>
          <p:nvPr/>
        </p:nvSpPr>
        <p:spPr>
          <a:xfrm>
            <a:off x="6187288" y="4617720"/>
            <a:ext cx="2514600" cy="457200"/>
          </a:xfrm>
          <a:prstGeom prst="roundRect">
            <a:avLst>
              <a:gd name="adj" fmla="val 20000"/>
            </a:avLst>
          </a:prstGeom>
          <a:solidFill>
            <a:srgbClr val="EAF6F4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6187288" y="461772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280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visit.closed</a:t>
            </a:r>
            <a:endParaRPr lang="en-US" sz="1150" dirty="0"/>
          </a:p>
        </p:txBody>
      </p:sp>
      <p:sp>
        <p:nvSpPr>
          <p:cNvPr id="26" name="Shape 21"/>
          <p:cNvSpPr/>
          <p:nvPr/>
        </p:nvSpPr>
        <p:spPr>
          <a:xfrm>
            <a:off x="8884768" y="4617720"/>
            <a:ext cx="2514600" cy="457200"/>
          </a:xfrm>
          <a:prstGeom prst="roundRect">
            <a:avLst>
              <a:gd name="adj" fmla="val 20000"/>
            </a:avLst>
          </a:prstGeom>
          <a:solidFill>
            <a:srgbClr val="EAF6F4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8884768" y="461772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280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order.placed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792328" y="5257800"/>
            <a:ext cx="2514600" cy="457200"/>
          </a:xfrm>
          <a:prstGeom prst="roundRect">
            <a:avLst>
              <a:gd name="adj" fmla="val 20000"/>
            </a:avLst>
          </a:prstGeom>
          <a:solidFill>
            <a:srgbClr val="EAF6F4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792328" y="525780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280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order.performed</a:t>
            </a:r>
            <a:endParaRPr lang="en-US" sz="1150" dirty="0"/>
          </a:p>
        </p:txBody>
      </p:sp>
      <p:sp>
        <p:nvSpPr>
          <p:cNvPr id="30" name="Shape 25"/>
          <p:cNvSpPr/>
          <p:nvPr/>
        </p:nvSpPr>
        <p:spPr>
          <a:xfrm>
            <a:off x="3489808" y="5257800"/>
            <a:ext cx="2514600" cy="457200"/>
          </a:xfrm>
          <a:prstGeom prst="roundRect">
            <a:avLst>
              <a:gd name="adj" fmla="val 20000"/>
            </a:avLst>
          </a:prstGeom>
          <a:solidFill>
            <a:srgbClr val="EAF6F4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3489808" y="525780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280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order.resulted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6187288" y="5257800"/>
            <a:ext cx="2514600" cy="457200"/>
          </a:xfrm>
          <a:prstGeom prst="roundRect">
            <a:avLst>
              <a:gd name="adj" fmla="val 20000"/>
            </a:avLst>
          </a:prstGeom>
          <a:solidFill>
            <a:srgbClr val="EAF6F4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6187288" y="525780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280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order.cancelled</a:t>
            </a:r>
            <a:endParaRPr lang="en-US" sz="1150" dirty="0"/>
          </a:p>
        </p:txBody>
      </p:sp>
      <p:sp>
        <p:nvSpPr>
          <p:cNvPr id="34" name="Shape 29"/>
          <p:cNvSpPr/>
          <p:nvPr/>
        </p:nvSpPr>
        <p:spPr>
          <a:xfrm>
            <a:off x="8884768" y="5257800"/>
            <a:ext cx="2514600" cy="457200"/>
          </a:xfrm>
          <a:prstGeom prst="roundRect">
            <a:avLst>
              <a:gd name="adj" fmla="val 20000"/>
            </a:avLst>
          </a:prstGeom>
          <a:solidFill>
            <a:srgbClr val="EAF6F4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8884768" y="525780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280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encounter.completed</a:t>
            </a:r>
            <a:endParaRPr lang="en-US" sz="1150" dirty="0"/>
          </a:p>
        </p:txBody>
      </p:sp>
      <p:sp>
        <p:nvSpPr>
          <p:cNvPr id="37" name="Text 31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 INTEGRATION — 3/3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CarePath แปลง "ข้อเท็จจริง" เป็น "แผนการเดินทาง" อย่างไร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11094415" cy="822960"/>
          </a:xfrm>
          <a:prstGeom prst="roundRect">
            <a:avLst>
              <a:gd name="adj" fmla="val 15556"/>
            </a:avLst>
          </a:prstGeom>
          <a:solidFill>
            <a:srgbClr val="028090"/>
          </a:solidFill>
          <a:ln/>
          <a:effectLst>
            <a:outerShdw sx="100000" sy="100000" kx="0" ky="0" algn="bl" rotWithShape="0" blurRad="101600" dist="25400" dir="5400000">
              <a:srgbClr val="1B3A38">
                <a:alpha val="1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14400" y="1965960"/>
            <a:ext cx="10362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FE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Plan(</a:t>
            </a:r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visit facts</a:t>
            </a:r>
            <a:pPr indent="0" marL="0">
              <a:buNone/>
            </a:pPr>
            <a:r>
              <a:rPr lang="en-US" sz="1800" dirty="0">
                <a:solidFill>
                  <a:srgbClr val="BFE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 →  </a:t>
            </a:r>
            <a:pPr indent="0" marL="0">
              <a:buNone/>
            </a:pPr>
            <a:r>
              <a:rPr lang="en-US" sz="1800" b="1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]Step</a:t>
            </a:r>
            <a:pPr indent="0" marL="0">
              <a:buNone/>
            </a:pPr>
            <a:r>
              <a:rPr lang="en-US" sz="1300" dirty="0">
                <a:solidFill>
                  <a:srgbClr val="BFE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— deterministic, ไม่มี side-effect, คำนวณใหม่ทุกครั้งที่มีข้อเท็จจริงใหม่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3227832"/>
            <a:ext cx="256032" cy="25603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322783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3145536"/>
            <a:ext cx="106829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ลงทะเบียนเป็นขั้นแรกเสมอ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758184"/>
            <a:ext cx="256032" cy="25603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37581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60120" y="3675888"/>
            <a:ext cx="106829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นัดหมายที่มีคำสั่งตรวจล่วงหน้า → ตรวจ Lab/X-ray ก่อนพบแพทย์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4288536"/>
            <a:ext cx="256032" cy="25603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42885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60120" y="4206240"/>
            <a:ext cx="106829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สั่งตรวจเพิ่มระหว่างพบแพทย์ → กลับมาหาหมอคนเดิม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4818888"/>
            <a:ext cx="256032" cy="25603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48188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60120" y="4736592"/>
            <a:ext cx="106829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การเงิน (cashier) เกิดขึ้นครั้งเดียวเสมอ ไม่ว่าจะกี่คลินิก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5349240"/>
            <a:ext cx="256032" cy="25603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48640" y="53492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60120" y="5266944"/>
            <a:ext cx="106829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ห้องยา เฉพาะเมื่อมีการสั่งยาเท่านั้น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62636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สะท้อน OPD flow จริงของโรงพยาบาล — ตรวจสอบร่วมกับผู้ใช้งานจริงก่อนออกแบบ (ADR-0009)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FLOW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สิ่งที่ผู้ป่วยเห็น ตั้งแต่ต้นจนจบ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303020" y="2286000"/>
            <a:ext cx="822960" cy="82296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476" y="2505456"/>
            <a:ext cx="384048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760220" y="2834640"/>
            <a:ext cx="320040" cy="320040"/>
          </a:xfrm>
          <a:prstGeom prst="ellipse">
            <a:avLst/>
          </a:prstGeom>
          <a:solidFill>
            <a:srgbClr val="02C39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760220" y="28346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33756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7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เปิดแอป</a:t>
            </a:r>
            <a:endParaRPr lang="en-US" sz="155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3749040"/>
            <a:ext cx="2331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A6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LIFF หรือค้นหาด้วยเลข VN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2935224" y="2697480"/>
            <a:ext cx="479450" cy="0"/>
          </a:xfrm>
          <a:prstGeom prst="line">
            <a:avLst/>
          </a:prstGeom>
          <a:noFill/>
          <a:ln w="25400">
            <a:solidFill>
              <a:srgbClr val="BFE3DE"/>
            </a:solidFill>
            <a:prstDash val="dash"/>
          </a:ln>
        </p:spPr>
      </p:sp>
      <p:sp>
        <p:nvSpPr>
          <p:cNvPr id="11" name="Shape 8"/>
          <p:cNvSpPr/>
          <p:nvPr/>
        </p:nvSpPr>
        <p:spPr>
          <a:xfrm>
            <a:off x="4223918" y="2286000"/>
            <a:ext cx="822960" cy="822960"/>
          </a:xfrm>
          <a:prstGeom prst="ellipse">
            <a:avLst/>
          </a:prstGeom>
          <a:solidFill>
            <a:srgbClr val="00A896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3374" y="2505456"/>
            <a:ext cx="384048" cy="384048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4681118" y="2834640"/>
            <a:ext cx="320040" cy="320040"/>
          </a:xfrm>
          <a:prstGeom prst="ellipse">
            <a:avLst/>
          </a:prstGeom>
          <a:solidFill>
            <a:srgbClr val="02C39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4681118" y="28346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3469538" y="333756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7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เห็น Timeline</a:t>
            </a:r>
            <a:endParaRPr lang="en-US" sz="1550" dirty="0"/>
          </a:p>
        </p:txBody>
      </p:sp>
      <p:sp>
        <p:nvSpPr>
          <p:cNvPr id="16" name="Text 12"/>
          <p:cNvSpPr txBox="1"/>
          <p:nvPr/>
        </p:nvSpPr>
        <p:spPr>
          <a:xfrm>
            <a:off x="3469538" y="3749040"/>
            <a:ext cx="2331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A6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เสร็จแล้ว / ขั้นตอนนี้ / ขั้นตอนถัดไป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5856122" y="2697480"/>
            <a:ext cx="479450" cy="0"/>
          </a:xfrm>
          <a:prstGeom prst="line">
            <a:avLst/>
          </a:prstGeom>
          <a:noFill/>
          <a:ln w="25400">
            <a:solidFill>
              <a:srgbClr val="BFE3DE"/>
            </a:solidFill>
            <a:prstDash val="dash"/>
          </a:ln>
        </p:spPr>
      </p:sp>
      <p:sp>
        <p:nvSpPr>
          <p:cNvPr id="18" name="Shape 14"/>
          <p:cNvSpPr/>
          <p:nvPr/>
        </p:nvSpPr>
        <p:spPr>
          <a:xfrm>
            <a:off x="7144817" y="2286000"/>
            <a:ext cx="822960" cy="82296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64273" y="2505456"/>
            <a:ext cx="384048" cy="384048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7602017" y="2834640"/>
            <a:ext cx="320040" cy="320040"/>
          </a:xfrm>
          <a:prstGeom prst="ellipse">
            <a:avLst/>
          </a:prstGeom>
          <a:solidFill>
            <a:srgbClr val="02C39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7602017" y="28346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7"/>
          <p:cNvSpPr txBox="1"/>
          <p:nvPr/>
        </p:nvSpPr>
        <p:spPr>
          <a:xfrm>
            <a:off x="6390437" y="333756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7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นำทางไปจุดหมาย</a:t>
            </a:r>
            <a:endParaRPr lang="en-US" sz="1550" dirty="0"/>
          </a:p>
        </p:txBody>
      </p:sp>
      <p:sp>
        <p:nvSpPr>
          <p:cNvPr id="23" name="Text 18"/>
          <p:cNvSpPr txBox="1"/>
          <p:nvPr/>
        </p:nvSpPr>
        <p:spPr>
          <a:xfrm>
            <a:off x="6390437" y="3749040"/>
            <a:ext cx="2331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A6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ระบุตำแหน่งด้วย QR/Zigbee แล้ววาดเส้นทางบนผัง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8777021" y="2697480"/>
            <a:ext cx="479450" cy="0"/>
          </a:xfrm>
          <a:prstGeom prst="line">
            <a:avLst/>
          </a:prstGeom>
          <a:noFill/>
          <a:ln w="25400">
            <a:solidFill>
              <a:srgbClr val="BFE3DE"/>
            </a:solidFill>
            <a:prstDash val="dash"/>
          </a:ln>
        </p:spPr>
      </p:sp>
      <p:sp>
        <p:nvSpPr>
          <p:cNvPr id="25" name="Shape 20"/>
          <p:cNvSpPr/>
          <p:nvPr/>
        </p:nvSpPr>
        <p:spPr>
          <a:xfrm>
            <a:off x="10065715" y="2286000"/>
            <a:ext cx="822960" cy="822960"/>
          </a:xfrm>
          <a:prstGeom prst="ellipse">
            <a:avLst/>
          </a:prstGeom>
          <a:solidFill>
            <a:srgbClr val="00A896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5171" y="2505456"/>
            <a:ext cx="384048" cy="384048"/>
          </a:xfrm>
          <a:prstGeom prst="rect">
            <a:avLst/>
          </a:prstGeom>
        </p:spPr>
      </p:pic>
      <p:sp>
        <p:nvSpPr>
          <p:cNvPr id="27" name="Shape 21"/>
          <p:cNvSpPr/>
          <p:nvPr/>
        </p:nvSpPr>
        <p:spPr>
          <a:xfrm>
            <a:off x="10522915" y="2834640"/>
            <a:ext cx="320040" cy="320040"/>
          </a:xfrm>
          <a:prstGeom prst="ellipse">
            <a:avLst/>
          </a:prstGeom>
          <a:solidFill>
            <a:srgbClr val="02C39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10522915" y="28346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9" name="Text 23"/>
          <p:cNvSpPr txBox="1"/>
          <p:nvPr/>
        </p:nvSpPr>
        <p:spPr>
          <a:xfrm>
            <a:off x="9311335" y="333756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7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อัปเดตสดอัตโนมัติ</a:t>
            </a:r>
            <a:endParaRPr lang="en-US" sz="1550" dirty="0"/>
          </a:p>
        </p:txBody>
      </p:sp>
      <p:sp>
        <p:nvSpPr>
          <p:cNvPr id="30" name="Text 24"/>
          <p:cNvSpPr txBox="1"/>
          <p:nvPr/>
        </p:nvSpPr>
        <p:spPr>
          <a:xfrm>
            <a:off x="9311335" y="3749040"/>
            <a:ext cx="2331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A6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ขั้นตอน/เส้นทางเปลี่ยนตามข้อเท็จจริงจาก HIS ทันที</a:t>
            </a:r>
            <a:endParaRPr lang="en-US" sz="1200" dirty="0"/>
          </a:p>
        </p:txBody>
      </p:sp>
      <p:sp>
        <p:nvSpPr>
          <p:cNvPr id="31" name="Shape 25"/>
          <p:cNvSpPr/>
          <p:nvPr/>
        </p:nvSpPr>
        <p:spPr>
          <a:xfrm>
            <a:off x="548640" y="4754880"/>
            <a:ext cx="11094415" cy="914400"/>
          </a:xfrm>
          <a:prstGeom prst="roundRect">
            <a:avLst>
              <a:gd name="adj" fmla="val 12000"/>
            </a:avLst>
          </a:prstGeom>
          <a:solidFill>
            <a:srgbClr val="EAF6F4"/>
          </a:solidFill>
          <a:ln/>
          <a:effectLst>
            <a:outerShdw sx="100000" sy="100000" kx="0" ky="0" algn="bl" rotWithShape="0" blurRad="101600" dist="25400" dir="5400000">
              <a:srgbClr val="1B3A38">
                <a:alpha val="15000"/>
              </a:srgbClr>
            </a:outerShdw>
          </a:effectLst>
        </p:spPr>
      </p:sp>
      <p:sp>
        <p:nvSpPr>
          <p:cNvPr id="32" name="Text 26"/>
          <p:cNvSpPr txBox="1"/>
          <p:nvPr/>
        </p:nvSpPr>
        <p:spPr>
          <a:xfrm>
            <a:off x="914400" y="4754880"/>
            <a:ext cx="103628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ไม่มี GPS ในอาคาร — ตำแหน่งปัจจุบันมาจาก QR (baseline) หรือ Zigbee (ทางเลือกเสริม) ผ่าน interface เดียวกัน (ADR-0004)</a:t>
            </a:r>
            <a:endParaRPr lang="en-US" sz="1400" dirty="0"/>
          </a:p>
        </p:txBody>
      </p:sp>
      <p:sp>
        <p:nvSpPr>
          <p:cNvPr id="34" name="Text 27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ฝั่งเจ้าหน้าที่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สิ่งที่มีให้ใช้งานแล้ว (ภาพรวมสั้น ๆ)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11094415" cy="914400"/>
          </a:xfrm>
          <a:prstGeom prst="roundRect">
            <a:avLst>
              <a:gd name="adj" fmla="val 12000"/>
            </a:avLst>
          </a:prstGeom>
          <a:solidFill>
            <a:srgbClr val="EAF6F4"/>
          </a:solidFill>
          <a:ln/>
          <a:effectLst>
            <a:outerShdw sx="100000" sy="100000" kx="0" ky="0" algn="bl" rotWithShape="0" blurRad="101600" dist="25400" dir="5400000">
              <a:srgbClr val="1B3A38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286000"/>
            <a:ext cx="548640" cy="54864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423160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2212848"/>
            <a:ext cx="4206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ล็อกอินตามสิทธิ์ (RBAC)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5943600" y="2212848"/>
            <a:ext cx="542513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A6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รหัสผ่านแบบ argon2id + JWT access token / refresh token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48640" y="3200400"/>
            <a:ext cx="11094415" cy="914400"/>
          </a:xfrm>
          <a:prstGeom prst="roundRect">
            <a:avLst>
              <a:gd name="adj" fmla="val 12000"/>
            </a:avLst>
          </a:prstGeom>
          <a:solidFill>
            <a:srgbClr val="EAF6F4"/>
          </a:solidFill>
          <a:ln/>
          <a:effectLst>
            <a:outerShdw sx="100000" sy="100000" kx="0" ky="0" algn="bl" rotWithShape="0" blurRad="101600" dist="25400" dir="5400000">
              <a:srgbClr val="1B3A38">
                <a:alpha val="1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22960" y="3383280"/>
            <a:ext cx="548640" cy="54864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3520440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600200" y="3310128"/>
            <a:ext cx="4206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รายการผู้ป่วย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5943600" y="3310128"/>
            <a:ext cx="542513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A6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ดูรายการ visit ที่เปิดอยู่ — HIS ยังเป็นผู้เปิด visit เหมือนเดิม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548640" y="4297680"/>
            <a:ext cx="11094415" cy="914400"/>
          </a:xfrm>
          <a:prstGeom prst="roundRect">
            <a:avLst>
              <a:gd name="adj" fmla="val 12000"/>
            </a:avLst>
          </a:prstGeom>
          <a:solidFill>
            <a:srgbClr val="EAF6F4"/>
          </a:solidFill>
          <a:ln/>
          <a:effectLst>
            <a:outerShdw sx="100000" sy="100000" kx="0" ky="0" algn="bl" rotWithShape="0" blurRad="101600" dist="25400" dir="5400000">
              <a:srgbClr val="1B3A38">
                <a:alpha val="1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22960" y="4480560"/>
            <a:ext cx="548640" cy="54864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4617720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600200" y="4407408"/>
            <a:ext cx="4206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คอนโซลจุดบริการ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5943600" y="4407408"/>
            <a:ext cx="542513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A6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เริ่ม/จบขั้นตอน และ override กรณีต้องกลับไปหาหมอคนเดิมผิดจากที่ระบบคาด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548640" y="5394960"/>
            <a:ext cx="11094415" cy="914400"/>
          </a:xfrm>
          <a:prstGeom prst="roundRect">
            <a:avLst>
              <a:gd name="adj" fmla="val 12000"/>
            </a:avLst>
          </a:prstGeom>
          <a:solidFill>
            <a:srgbClr val="EAF6F4"/>
          </a:solidFill>
          <a:ln/>
          <a:effectLst>
            <a:outerShdw sx="100000" sy="100000" kx="0" ky="0" algn="bl" rotWithShape="0" blurRad="101600" dist="25400" dir="5400000">
              <a:srgbClr val="1B3A38">
                <a:alpha val="1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822960" y="5577840"/>
            <a:ext cx="548640" cy="54864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5715000"/>
            <a:ext cx="274320" cy="27432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600200" y="5504688"/>
            <a:ext cx="4206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Mock HIS console (เดโมเท่านั้น)</a:t>
            </a:r>
            <a:endParaRPr lang="en-US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5943600" y="5504688"/>
            <a:ext cx="542513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A6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ใช้แทน HIS จริงระหว่างพัฒนา — ระบบจริงจะไม่มีหน้านี้</a:t>
            </a:r>
            <a:endParaRPr lang="en-US" sz="1250" dirty="0"/>
          </a:p>
        </p:txBody>
      </p:sp>
      <p:sp>
        <p:nvSpPr>
          <p:cNvPr id="25" name="Text 18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มุมมองผู้บริหาร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Executive Dashboard — วิเคราะห์คอขวดของโรงพยาบาล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57400"/>
            <a:ext cx="3454298" cy="1737360"/>
          </a:xfrm>
          <a:prstGeom prst="roundRect">
            <a:avLst>
              <a:gd name="adj" fmla="val 6316"/>
            </a:avLst>
          </a:prstGeom>
          <a:solidFill>
            <a:srgbClr val="028090"/>
          </a:solidFill>
          <a:ln/>
          <a:effectLst>
            <a:outerShdw sx="100000" sy="100000" kx="0" ky="0" algn="bl" rotWithShape="0" blurRad="101600" dist="25400" dir="5400000">
              <a:srgbClr val="1B3A38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955749" y="2286000"/>
            <a:ext cx="640080" cy="640080"/>
          </a:xfrm>
          <a:prstGeom prst="ellipse">
            <a:avLst/>
          </a:prstGeom>
          <a:solidFill>
            <a:srgbClr val="00A896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11197" y="2441448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3017520"/>
            <a:ext cx="30885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เวลารอเฉลี่ย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3355848"/>
            <a:ext cx="30885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FE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ต่อจุดบริการแต่ละจุด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368698" y="2057400"/>
            <a:ext cx="3454298" cy="1737360"/>
          </a:xfrm>
          <a:prstGeom prst="roundRect">
            <a:avLst>
              <a:gd name="adj" fmla="val 6316"/>
            </a:avLst>
          </a:prstGeom>
          <a:solidFill>
            <a:srgbClr val="028090"/>
          </a:solidFill>
          <a:ln/>
          <a:effectLst>
            <a:outerShdw sx="100000" sy="100000" kx="0" ky="0" algn="bl" rotWithShape="0" blurRad="101600" dist="25400" dir="5400000">
              <a:srgbClr val="1B3A38">
                <a:alpha val="1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775808" y="2286000"/>
            <a:ext cx="640080" cy="640080"/>
          </a:xfrm>
          <a:prstGeom prst="ellipse">
            <a:avLst/>
          </a:prstGeom>
          <a:solidFill>
            <a:srgbClr val="00A896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1256" y="2441448"/>
            <a:ext cx="329184" cy="32918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551578" y="3017520"/>
            <a:ext cx="30885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จุดคอขวด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4551578" y="3355848"/>
            <a:ext cx="30885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FE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จุดบริการที่ผู้ป่วยรอนานผิดปกติ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8188757" y="2057400"/>
            <a:ext cx="3454298" cy="1737360"/>
          </a:xfrm>
          <a:prstGeom prst="roundRect">
            <a:avLst>
              <a:gd name="adj" fmla="val 6316"/>
            </a:avLst>
          </a:prstGeom>
          <a:solidFill>
            <a:srgbClr val="028090"/>
          </a:solidFill>
          <a:ln/>
          <a:effectLst>
            <a:outerShdw sx="100000" sy="100000" kx="0" ky="0" algn="bl" rotWithShape="0" blurRad="101600" dist="25400" dir="5400000">
              <a:srgbClr val="1B3A38">
                <a:alpha val="1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595866" y="2286000"/>
            <a:ext cx="640080" cy="640080"/>
          </a:xfrm>
          <a:prstGeom prst="ellipse">
            <a:avLst/>
          </a:prstGeom>
          <a:solidFill>
            <a:srgbClr val="00A896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51314" y="2441448"/>
            <a:ext cx="329184" cy="32918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371637" y="3017520"/>
            <a:ext cx="30885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เวลารวมในโรงพยาบาล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8371637" y="3355848"/>
            <a:ext cx="30885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FE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เฉลี่ยต่อผู้ป่วยหนึ่งราย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548640" y="4114800"/>
            <a:ext cx="11094415" cy="1508760"/>
          </a:xfrm>
          <a:prstGeom prst="roundRect">
            <a:avLst>
              <a:gd name="adj" fmla="val 7273"/>
            </a:avLst>
          </a:prstGeom>
          <a:solidFill>
            <a:srgbClr val="EAF6F4"/>
          </a:solidFill>
          <a:ln/>
          <a:effectLst>
            <a:outerShdw sx="100000" sy="100000" kx="0" ky="0" algn="bl" rotWithShape="0" blurRad="101600" dist="25400" dir="5400000">
              <a:srgbClr val="1B3A38">
                <a:alpha val="15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868680" y="427939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ทำไมต้องมีส่วนนี้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868680" y="4663440"/>
            <a:ext cx="104543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A6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ใช้ข้อมูลที่ระบบเก็บอยู่แล้วจากการติดตามขั้นตอนผู้ป่วย ไม่ต้องให้โรงพยาบาลติดตั้งอะไรเพิ่ม — เปลี่ยนผลพลอยได้จากฟีเจอร์นำทางผู้ป่วยให้กลายเป็นข้อมูลตัดสินใจ: จะเพิ่มกำลังคนที่จุดไหน จุดใดคือคอขวดจริง ไม่ใช่แค่ความรู้สึก</a:t>
            </a:r>
            <a:endParaRPr lang="en-US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แนวคิดเพิ่มเติม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QR บนใบนำทาง — จุดเริ่มต้นเข้าสู่ CarePath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722815" y="457200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 w="12700">
            <a:solidFill>
              <a:srgbClr val="A15C0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722815" y="45720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1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แนวคิด — ยังไม่ได้พัฒนา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3291840" cy="3017520"/>
          </a:xfrm>
          <a:prstGeom prst="roundRect">
            <a:avLst>
              <a:gd name="adj" fmla="val 3636"/>
            </a:avLst>
          </a:prstGeom>
          <a:solidFill>
            <a:srgbClr val="EAF6F4"/>
          </a:solidFill>
          <a:ln/>
          <a:effectLst>
            <a:outerShdw sx="100000" sy="100000" kx="0" ky="0" algn="bl" rotWithShape="0" blurRad="101600" dist="25400" dir="5400000">
              <a:srgbClr val="1B3A38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68680" y="2423160"/>
            <a:ext cx="548640" cy="54864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6696" y="2551176"/>
            <a:ext cx="292608" cy="29260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22960" y="31089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ใบนำทาง (เดิม)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822960" y="3611880"/>
            <a:ext cx="2468880" cy="91440"/>
          </a:xfrm>
          <a:prstGeom prst="rect">
            <a:avLst/>
          </a:prstGeom>
          <a:solidFill>
            <a:srgbClr val="D6E9E6"/>
          </a:solidFill>
          <a:ln/>
        </p:spPr>
      </p:sp>
      <p:sp>
        <p:nvSpPr>
          <p:cNvPr id="11" name="Shape 8"/>
          <p:cNvSpPr/>
          <p:nvPr/>
        </p:nvSpPr>
        <p:spPr>
          <a:xfrm>
            <a:off x="822960" y="3904488"/>
            <a:ext cx="2468880" cy="91440"/>
          </a:xfrm>
          <a:prstGeom prst="rect">
            <a:avLst/>
          </a:prstGeom>
          <a:solidFill>
            <a:srgbClr val="D6E9E6"/>
          </a:solidFill>
          <a:ln/>
        </p:spPr>
      </p:sp>
      <p:sp>
        <p:nvSpPr>
          <p:cNvPr id="12" name="Shape 9"/>
          <p:cNvSpPr/>
          <p:nvPr/>
        </p:nvSpPr>
        <p:spPr>
          <a:xfrm>
            <a:off x="822960" y="4197096"/>
            <a:ext cx="2468880" cy="91440"/>
          </a:xfrm>
          <a:prstGeom prst="rect">
            <a:avLst/>
          </a:prstGeom>
          <a:solidFill>
            <a:srgbClr val="D6E9E6"/>
          </a:solidFill>
          <a:ln/>
        </p:spPr>
      </p:sp>
      <p:sp>
        <p:nvSpPr>
          <p:cNvPr id="13" name="Shape 10"/>
          <p:cNvSpPr/>
          <p:nvPr/>
        </p:nvSpPr>
        <p:spPr>
          <a:xfrm>
            <a:off x="822960" y="4489704"/>
            <a:ext cx="2468880" cy="91440"/>
          </a:xfrm>
          <a:prstGeom prst="rect">
            <a:avLst/>
          </a:prstGeom>
          <a:solidFill>
            <a:srgbClr val="D6E9E6"/>
          </a:solidFill>
          <a:ln/>
        </p:spPr>
      </p:sp>
      <p:sp>
        <p:nvSpPr>
          <p:cNvPr id="14" name="Shape 11"/>
          <p:cNvSpPr/>
          <p:nvPr/>
        </p:nvSpPr>
        <p:spPr>
          <a:xfrm>
            <a:off x="3977640" y="3291840"/>
            <a:ext cx="640080" cy="640080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2232" y="3456432"/>
            <a:ext cx="310896" cy="310896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4892040" y="2103120"/>
            <a:ext cx="3291840" cy="3017520"/>
          </a:xfrm>
          <a:prstGeom prst="roundRect">
            <a:avLst>
              <a:gd name="adj" fmla="val 3636"/>
            </a:avLst>
          </a:prstGeom>
          <a:solidFill>
            <a:srgbClr val="028090"/>
          </a:solidFill>
          <a:ln/>
          <a:effectLst>
            <a:outerShdw sx="100000" sy="100000" kx="0" ky="0" algn="bl" rotWithShape="0" blurRad="101600" dist="25400" dir="5400000">
              <a:srgbClr val="1B3A38">
                <a:alpha val="15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080760" y="246888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7064" y="2615184"/>
            <a:ext cx="621792" cy="621792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4892040" y="3566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 QR Code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5166360" y="402336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BFE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สแกนแล้วเข้าสู่ journey ของผู้ป่วยรายนั้นทันที แทนการค้นหาเลข VN เอง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8321040" y="3291840"/>
            <a:ext cx="640080" cy="640080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3456432"/>
            <a:ext cx="310896" cy="310896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9235440" y="2103120"/>
            <a:ext cx="2407615" cy="3017520"/>
          </a:xfrm>
          <a:prstGeom prst="roundRect">
            <a:avLst>
              <a:gd name="adj" fmla="val 4558"/>
            </a:avLst>
          </a:prstGeom>
          <a:solidFill>
            <a:srgbClr val="EAF6F4"/>
          </a:solidFill>
          <a:ln/>
          <a:effectLst>
            <a:outerShdw sx="100000" sy="100000" kx="0" ky="0" algn="bl" rotWithShape="0" blurRad="101600" dist="25400" dir="5400000">
              <a:srgbClr val="1B3A38">
                <a:alpha val="15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10119208" y="2423160"/>
            <a:ext cx="640080" cy="640080"/>
          </a:xfrm>
          <a:prstGeom prst="ellipse">
            <a:avLst/>
          </a:prstGeom>
          <a:solidFill>
            <a:srgbClr val="00A896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74656" y="2578608"/>
            <a:ext cx="329184" cy="329184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9464040" y="3246120"/>
            <a:ext cx="1950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7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เข้าหน้า Journey ของผู้ป่วยทันที</a:t>
            </a:r>
            <a:endParaRPr lang="en-US" sz="1250" dirty="0"/>
          </a:p>
        </p:txBody>
      </p:sp>
      <p:sp>
        <p:nvSpPr>
          <p:cNvPr id="27" name="Text 20"/>
          <p:cNvSpPr txBox="1"/>
          <p:nvPr/>
        </p:nvSpPr>
        <p:spPr>
          <a:xfrm>
            <a:off x="548640" y="63093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ต่อยอดจาก pattern QR location provider ที่มีอยู่แล้ว (ADR-0004) — เป็น QR จุดเข้าใหม่ ไม่ใช่ระบบใหม่</a:t>
            </a:r>
            <a:endParaRPr lang="en-US" sz="1100" dirty="0"/>
          </a:p>
        </p:txBody>
      </p:sp>
      <p:sp>
        <p:nvSpPr>
          <p:cNvPr id="29" name="Text 21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แชร์ให้ญาติ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แชร์ความคืบหน้าให้ญาติ — เห็นอะไรได้บ้าง และทำไม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5364328" cy="2834640"/>
          </a:xfrm>
          <a:prstGeom prst="roundRect">
            <a:avLst>
              <a:gd name="adj" fmla="val 3871"/>
            </a:avLst>
          </a:prstGeom>
          <a:solidFill>
            <a:srgbClr val="E8F8F3"/>
          </a:solidFill>
          <a:ln/>
          <a:effectLst>
            <a:outerShdw sx="100000" sy="100000" kx="0" ky="0" algn="bl" rotWithShape="0" blurRad="101600" dist="25400" dir="5400000">
              <a:srgbClr val="1B3A38">
                <a:alpha val="1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2194560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7A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เห็นได้</a:t>
            </a:r>
            <a:endParaRPr lang="en-US" sz="16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697480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34440" y="2624328"/>
            <a:ext cx="440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7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ขั้นตอนปัจจุบัน เป็นข้อความอ่านง่าย (เช่น "รอเจาะเลือด")</a:t>
            </a:r>
            <a:endParaRPr lang="en-US" sz="12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200400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34440" y="3127248"/>
            <a:ext cx="440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7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สถานะหยาบ: รอ / กำลังทำ / เสร็จแล้ว</a:t>
            </a:r>
            <a:endParaRPr lang="en-US" sz="12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703320"/>
            <a:ext cx="274320" cy="2743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234440" y="3630168"/>
            <a:ext cx="440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7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ชื่อจุดบริการและชั้นที่ตั้ง</a:t>
            </a:r>
            <a:endParaRPr lang="en-US" sz="120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4206240"/>
            <a:ext cx="274320" cy="27432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234440" y="4133088"/>
            <a:ext cx="440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7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เวลาที่อัปเดตล่าสุด และเวลาหมดอายุลิงก์</a:t>
            </a:r>
            <a:endParaRPr lang="en-US" sz="1200" dirty="0"/>
          </a:p>
        </p:txBody>
      </p:sp>
      <p:sp>
        <p:nvSpPr>
          <p:cNvPr id="14" name="Shape 8"/>
          <p:cNvSpPr/>
          <p:nvPr/>
        </p:nvSpPr>
        <p:spPr>
          <a:xfrm>
            <a:off x="6278728" y="2011680"/>
            <a:ext cx="5364328" cy="2834640"/>
          </a:xfrm>
          <a:prstGeom prst="roundRect">
            <a:avLst>
              <a:gd name="adj" fmla="val 3871"/>
            </a:avLst>
          </a:prstGeom>
          <a:solidFill>
            <a:srgbClr val="FBEDED"/>
          </a:solidFill>
          <a:ln/>
          <a:effectLst>
            <a:outerShdw sx="100000" sy="100000" kx="0" ky="0" algn="bl" rotWithShape="0" blurRad="101600" dist="25400" dir="5400000">
              <a:srgbClr val="1B3A38">
                <a:alpha val="15000"/>
              </a:srgbClr>
            </a:outerShdw>
          </a:effectLst>
        </p:spPr>
      </p:sp>
      <p:sp>
        <p:nvSpPr>
          <p:cNvPr id="15" name="Text 9"/>
          <p:cNvSpPr txBox="1"/>
          <p:nvPr/>
        </p:nvSpPr>
        <p:spPr>
          <a:xfrm>
            <a:off x="6553048" y="2194560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94C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ไม่เห็น</a:t>
            </a:r>
            <a:endParaRPr lang="en-US" sz="1600" dirty="0"/>
          </a:p>
        </p:txBody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3048" y="2697480"/>
            <a:ext cx="274320" cy="27432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6964528" y="2624328"/>
            <a:ext cx="440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7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ชื่อผู้ป่วย, HN/VN</a:t>
            </a:r>
            <a:endParaRPr lang="en-US" sz="1200" dirty="0"/>
          </a:p>
        </p:txBody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53048" y="3200400"/>
            <a:ext cx="274320" cy="27432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6964528" y="3127248"/>
            <a:ext cx="440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7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visitId และรหัสขั้นตอน/รหัสคลินิก</a:t>
            </a:r>
            <a:endParaRPr lang="en-US" sz="1200" dirty="0"/>
          </a:p>
        </p:txBody>
      </p:sp>
      <p:pic>
        <p:nvPicPr>
          <p:cNvPr id="2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53048" y="3703320"/>
            <a:ext cx="274320" cy="274320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6964528" y="3630168"/>
            <a:ext cx="440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7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รายการคำสั่งตรวจ (order)</a:t>
            </a:r>
            <a:endParaRPr lang="en-US" sz="1200" dirty="0"/>
          </a:p>
        </p:txBody>
      </p:sp>
      <p:pic>
        <p:nvPicPr>
          <p:cNvPr id="2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53048" y="4206240"/>
            <a:ext cx="274320" cy="274320"/>
          </a:xfrm>
          <a:prstGeom prst="rect">
            <a:avLst/>
          </a:prstGeom>
        </p:spPr>
      </p:pic>
      <p:sp>
        <p:nvSpPr>
          <p:cNvPr id="23" name="Text 13"/>
          <p:cNvSpPr txBox="1"/>
          <p:nvPr/>
        </p:nvSpPr>
        <p:spPr>
          <a:xfrm>
            <a:off x="6964528" y="4133088"/>
            <a:ext cx="440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7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รายการขั้นตอนทั้งหมดของผู้ป่วย</a:t>
            </a:r>
            <a:endParaRPr lang="en-US" sz="1200" dirty="0"/>
          </a:p>
        </p:txBody>
      </p:sp>
      <p:sp>
        <p:nvSpPr>
          <p:cNvPr id="24" name="Shape 14"/>
          <p:cNvSpPr/>
          <p:nvPr/>
        </p:nvSpPr>
        <p:spPr>
          <a:xfrm>
            <a:off x="548640" y="5074920"/>
            <a:ext cx="11094415" cy="960120"/>
          </a:xfrm>
          <a:prstGeom prst="roundRect">
            <a:avLst>
              <a:gd name="adj" fmla="val 11429"/>
            </a:avLst>
          </a:prstGeom>
          <a:solidFill>
            <a:srgbClr val="EAF6F4"/>
          </a:solidFill>
          <a:ln/>
          <a:effectLst>
            <a:outerShdw sx="100000" sy="100000" kx="0" ky="0" algn="bl" rotWithShape="0" blurRad="101600" dist="25400" dir="5400000">
              <a:srgbClr val="1B3A38">
                <a:alpha val="15000"/>
              </a:srgbClr>
            </a:outerShdw>
          </a:effectLst>
        </p:spPr>
      </p:sp>
      <p:pic>
        <p:nvPicPr>
          <p:cNvPr id="25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2960" y="5330952"/>
            <a:ext cx="457200" cy="457200"/>
          </a:xfrm>
          <a:prstGeom prst="rect">
            <a:avLst/>
          </a:prstGeom>
        </p:spPr>
      </p:pic>
      <p:sp>
        <p:nvSpPr>
          <p:cNvPr id="26" name="Text 15"/>
          <p:cNvSpPr txBox="1"/>
          <p:nvPr/>
        </p:nvSpPr>
        <p:spPr>
          <a:xfrm>
            <a:off x="1463040" y="5074920"/>
            <a:ext cx="990569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7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ไม่ต้องล็อกอิน · หมดอายุอัตโนมัติใน 4 ชั่วโมง · ผู้ป่วยเพิกถอนได้ทุกเมื่อ ("หยุดแชร์") · token ไม่อยู่ใน URL ที่ server เห็น จึงไม่หลุดเข้า log (ADR-0011)</a:t>
            </a:r>
            <a:endParaRPr lang="en-US" sz="1250" dirty="0"/>
          </a:p>
        </p:txBody>
      </p:sp>
      <p:sp>
        <p:nvSpPr>
          <p:cNvPr id="28" name="Text 16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2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645920"/>
            <a:ext cx="4206240" cy="4206240"/>
          </a:xfrm>
          <a:prstGeom prst="ellipse">
            <a:avLst/>
          </a:prstGeom>
          <a:solidFill>
            <a:srgbClr val="0F3A3E"/>
          </a:solidFill>
          <a:ln/>
        </p:spPr>
      </p:sp>
      <p:sp>
        <p:nvSpPr>
          <p:cNvPr id="3" name="Shape 1"/>
          <p:cNvSpPr/>
          <p:nvPr/>
        </p:nvSpPr>
        <p:spPr>
          <a:xfrm>
            <a:off x="10789920" y="5120640"/>
            <a:ext cx="3291840" cy="3291840"/>
          </a:xfrm>
          <a:prstGeom prst="ellipse">
            <a:avLst/>
          </a:prstGeom>
          <a:solidFill>
            <a:srgbClr val="0F3A3E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640080"/>
            <a:ext cx="731520" cy="731520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804672"/>
            <a:ext cx="402336" cy="40233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63040" y="713232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FE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37160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ขับเคลื่อนด้วย Mock HIS — เปิด VN ใหม่สด ๆ</a:t>
            </a:r>
            <a:endParaRPr lang="en-US" sz="2800" dirty="0"/>
          </a:p>
        </p:txBody>
      </p:sp>
      <p:sp>
        <p:nvSpPr>
          <p:cNvPr id="8" name="Shape 5"/>
          <p:cNvSpPr/>
          <p:nvPr/>
        </p:nvSpPr>
        <p:spPr>
          <a:xfrm>
            <a:off x="548640" y="2514600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48640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1051560" y="2487168"/>
            <a:ext cx="476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เปิด VN ใหม่ (นัดหมาย + สั่งตรวจล่วงหน้า)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6370168" y="2514600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370168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873088" y="2487168"/>
            <a:ext cx="476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ผลตรวจออก → ขั้นตอนพบแพทย์พร้อมใช้งาน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548640" y="3218688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48640" y="32186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051560" y="3191256"/>
            <a:ext cx="476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พบแพทย์ สั่งตรวจเพิ่มระหว่างคุย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6370168" y="3218688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370168" y="32186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6873088" y="3191256"/>
            <a:ext cx="476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ตรวจเสร็จ กลับมาหาหมอคนเดิม</a:t>
            </a:r>
            <a:endParaRPr lang="en-US" sz="1350" dirty="0"/>
          </a:p>
        </p:txBody>
      </p:sp>
      <p:sp>
        <p:nvSpPr>
          <p:cNvPr id="20" name="Shape 17"/>
          <p:cNvSpPr/>
          <p:nvPr/>
        </p:nvSpPr>
        <p:spPr>
          <a:xfrm>
            <a:off x="548640" y="3922776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48640" y="39227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3895344"/>
            <a:ext cx="476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ปิดรอบ → การเงิน → ห้องยา</a:t>
            </a:r>
            <a:endParaRPr lang="en-US" sz="1350" dirty="0"/>
          </a:p>
        </p:txBody>
      </p:sp>
      <p:sp>
        <p:nvSpPr>
          <p:cNvPr id="23" name="Shape 20"/>
          <p:cNvSpPr/>
          <p:nvPr/>
        </p:nvSpPr>
        <p:spPr>
          <a:xfrm>
            <a:off x="6370168" y="3922776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370168" y="39227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6873088" y="3895344"/>
            <a:ext cx="476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แผนที่/เส้นทางอัปเดตตามทุกขั้นตอน</a:t>
            </a:r>
            <a:endParaRPr lang="en-US" sz="1350" dirty="0"/>
          </a:p>
        </p:txBody>
      </p:sp>
      <p:sp>
        <p:nvSpPr>
          <p:cNvPr id="26" name="Shape 23"/>
          <p:cNvSpPr/>
          <p:nvPr/>
        </p:nvSpPr>
        <p:spPr>
          <a:xfrm>
            <a:off x="1523848" y="4434840"/>
            <a:ext cx="2743200" cy="777240"/>
          </a:xfrm>
          <a:prstGeom prst="roundRect">
            <a:avLst>
              <a:gd name="adj" fmla="val 14118"/>
            </a:avLst>
          </a:prstGeom>
          <a:solidFill>
            <a:srgbClr val="0F3A3E"/>
          </a:solidFill>
          <a:ln/>
        </p:spPr>
      </p:sp>
      <p:sp>
        <p:nvSpPr>
          <p:cNvPr id="27" name="Shape 24"/>
          <p:cNvSpPr/>
          <p:nvPr/>
        </p:nvSpPr>
        <p:spPr>
          <a:xfrm>
            <a:off x="1725016" y="4562856"/>
            <a:ext cx="521208" cy="52120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3888" y="4681728"/>
            <a:ext cx="283464" cy="283464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2346808" y="44348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 HIS console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724248" y="4434840"/>
            <a:ext cx="2743200" cy="777240"/>
          </a:xfrm>
          <a:prstGeom prst="roundRect">
            <a:avLst>
              <a:gd name="adj" fmla="val 14118"/>
            </a:avLst>
          </a:prstGeom>
          <a:solidFill>
            <a:srgbClr val="0F3A3E"/>
          </a:solidFill>
          <a:ln/>
        </p:spPr>
      </p:sp>
      <p:sp>
        <p:nvSpPr>
          <p:cNvPr id="31" name="Shape 27"/>
          <p:cNvSpPr/>
          <p:nvPr/>
        </p:nvSpPr>
        <p:spPr>
          <a:xfrm>
            <a:off x="4925416" y="4562856"/>
            <a:ext cx="521208" cy="52120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4288" y="4681728"/>
            <a:ext cx="283464" cy="283464"/>
          </a:xfrm>
          <a:prstGeom prst="rect">
            <a:avLst/>
          </a:prstGeom>
        </p:spPr>
      </p:pic>
      <p:sp>
        <p:nvSpPr>
          <p:cNvPr id="33" name="Text 28"/>
          <p:cNvSpPr txBox="1"/>
          <p:nvPr/>
        </p:nvSpPr>
        <p:spPr>
          <a:xfrm>
            <a:off x="5547208" y="44348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app</a:t>
            </a:r>
            <a:endParaRPr lang="en-US" sz="1300" dirty="0"/>
          </a:p>
        </p:txBody>
      </p:sp>
      <p:sp>
        <p:nvSpPr>
          <p:cNvPr id="34" name="Shape 29"/>
          <p:cNvSpPr/>
          <p:nvPr/>
        </p:nvSpPr>
        <p:spPr>
          <a:xfrm>
            <a:off x="7924648" y="4434840"/>
            <a:ext cx="2743200" cy="777240"/>
          </a:xfrm>
          <a:prstGeom prst="roundRect">
            <a:avLst>
              <a:gd name="adj" fmla="val 14118"/>
            </a:avLst>
          </a:prstGeom>
          <a:solidFill>
            <a:srgbClr val="0F3A3E"/>
          </a:solidFill>
          <a:ln/>
        </p:spPr>
      </p:sp>
      <p:sp>
        <p:nvSpPr>
          <p:cNvPr id="35" name="Shape 30"/>
          <p:cNvSpPr/>
          <p:nvPr/>
        </p:nvSpPr>
        <p:spPr>
          <a:xfrm>
            <a:off x="8125816" y="4562856"/>
            <a:ext cx="521208" cy="52120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4688" y="4681728"/>
            <a:ext cx="283464" cy="283464"/>
          </a:xfrm>
          <a:prstGeom prst="rect">
            <a:avLst/>
          </a:prstGeom>
        </p:spPr>
      </p:pic>
      <p:sp>
        <p:nvSpPr>
          <p:cNvPr id="37" name="Text 31"/>
          <p:cNvSpPr txBox="1"/>
          <p:nvPr/>
        </p:nvSpPr>
        <p:spPr>
          <a:xfrm>
            <a:off x="8747608" y="44348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แผนที่ / เส้นทาง</a:t>
            </a:r>
            <a:endParaRPr lang="en-US" sz="1300" dirty="0"/>
          </a:p>
        </p:txBody>
      </p:sp>
      <p:sp>
        <p:nvSpPr>
          <p:cNvPr id="38" name="Text 32"/>
          <p:cNvSpPr txBox="1"/>
          <p:nvPr/>
        </p:nvSpPr>
        <p:spPr>
          <a:xfrm>
            <a:off x="548640" y="60350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BFE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เส้นทางเดียวกับที่ถูกทดสอบอัตโนมัติทุกวันใน CI (apps/api/internal/e2e) — สิ่งที่สาธิตคือสิ่งที่ทดสอบผ่านจริง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BLUEPRINT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สถาปัตยกรรมเบื้องหลัง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4206240" cy="3977640"/>
          </a:xfrm>
          <a:prstGeom prst="roundRect">
            <a:avLst>
              <a:gd name="adj" fmla="val 2759"/>
            </a:avLst>
          </a:prstGeom>
          <a:solidFill>
            <a:srgbClr val="EAF6F4"/>
          </a:solidFill>
          <a:ln/>
          <a:effectLst>
            <a:outerShdw sx="100000" sy="100000" kx="0" ky="0" algn="bl" rotWithShape="0" blurRad="101600" dist="25400" dir="5400000">
              <a:srgbClr val="1B3A38">
                <a:alpha val="1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Stack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22960" y="2697480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" y="2807208"/>
            <a:ext cx="237744" cy="23774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417320" y="267919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1417320" y="2935224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A6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19 · TypeScript · Vite · Tailwind · TanStack Query/Router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822960" y="3474720"/>
            <a:ext cx="457200" cy="457200"/>
          </a:xfrm>
          <a:prstGeom prst="ellipse">
            <a:avLst/>
          </a:prstGeom>
          <a:solidFill>
            <a:srgbClr val="00A896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3584448"/>
            <a:ext cx="237744" cy="23774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417320" y="345643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1417320" y="3712464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A6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· Fiber v3 · REST + OpenAPI contract-first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822960" y="4251960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" y="4361688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417320" y="423367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ข้อมูล</a:t>
            </a:r>
            <a:endParaRPr lang="en-US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1417320" y="4489704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A6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(pgx) · golang-migrate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822960" y="5029200"/>
            <a:ext cx="457200" cy="457200"/>
          </a:xfrm>
          <a:prstGeom prst="ellipse">
            <a:avLst/>
          </a:prstGeom>
          <a:solidFill>
            <a:srgbClr val="00A896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" y="5138928"/>
            <a:ext cx="237744" cy="237744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417320" y="501091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</a:t>
            </a:r>
            <a:endParaRPr lang="en-US" sz="1300" dirty="0"/>
          </a:p>
        </p:txBody>
      </p:sp>
      <p:sp>
        <p:nvSpPr>
          <p:cNvPr id="21" name="Text 15"/>
          <p:cNvSpPr txBox="1"/>
          <p:nvPr/>
        </p:nvSpPr>
        <p:spPr>
          <a:xfrm>
            <a:off x="1417320" y="5266944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A6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 วันนี้ · พร้อมขยายสู่ Kubernetes</a:t>
            </a:r>
            <a:endParaRPr lang="en-US" sz="1050" dirty="0"/>
          </a:p>
        </p:txBody>
      </p:sp>
      <p:sp>
        <p:nvSpPr>
          <p:cNvPr id="22" name="Shape 16"/>
          <p:cNvSpPr/>
          <p:nvPr/>
        </p:nvSpPr>
        <p:spPr>
          <a:xfrm>
            <a:off x="5120640" y="1965960"/>
            <a:ext cx="6522415" cy="2331720"/>
          </a:xfrm>
          <a:prstGeom prst="roundRect">
            <a:avLst>
              <a:gd name="adj" fmla="val 4706"/>
            </a:avLst>
          </a:prstGeom>
          <a:solidFill>
            <a:srgbClr val="028090"/>
          </a:solidFill>
          <a:ln/>
          <a:effectLst>
            <a:outerShdw sx="100000" sy="100000" kx="0" ky="0" algn="bl" rotWithShape="0" blurRad="101600" dist="25400" dir="5400000">
              <a:srgbClr val="1B3A38">
                <a:alpha val="15000"/>
              </a:srgbClr>
            </a:outerShdw>
          </a:effectLst>
        </p:spPr>
      </p:sp>
      <p:sp>
        <p:nvSpPr>
          <p:cNvPr id="23" name="Text 17"/>
          <p:cNvSpPr txBox="1"/>
          <p:nvPr/>
        </p:nvSpPr>
        <p:spPr>
          <a:xfrm>
            <a:off x="5394960" y="2148840"/>
            <a:ext cx="59737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Core runtime chain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5394960" y="2651760"/>
            <a:ext cx="59737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FE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 Visit facts</a:t>
            </a:r>
            <a:endParaRPr lang="en-US" sz="1150" dirty="0"/>
          </a:p>
        </p:txBody>
      </p:sp>
      <p:sp>
        <p:nvSpPr>
          <p:cNvPr id="25" name="Text 19"/>
          <p:cNvSpPr txBox="1"/>
          <p:nvPr/>
        </p:nvSpPr>
        <p:spPr>
          <a:xfrm>
            <a:off x="5394960" y="2926080"/>
            <a:ext cx="59737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FE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 Journey plan</a:t>
            </a:r>
            <a:endParaRPr lang="en-US" sz="1150" dirty="0"/>
          </a:p>
        </p:txBody>
      </p:sp>
      <p:sp>
        <p:nvSpPr>
          <p:cNvPr id="26" name="Text 20"/>
          <p:cNvSpPr txBox="1"/>
          <p:nvPr/>
        </p:nvSpPr>
        <p:spPr>
          <a:xfrm>
            <a:off x="5394960" y="3200400"/>
            <a:ext cx="59737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FE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 ServicePoint</a:t>
            </a:r>
            <a:endParaRPr lang="en-US" sz="1150" dirty="0"/>
          </a:p>
        </p:txBody>
      </p:sp>
      <p:sp>
        <p:nvSpPr>
          <p:cNvPr id="27" name="Text 21"/>
          <p:cNvSpPr txBox="1"/>
          <p:nvPr/>
        </p:nvSpPr>
        <p:spPr>
          <a:xfrm>
            <a:off x="5394960" y="3474720"/>
            <a:ext cx="59737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FE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  Place</a:t>
            </a:r>
            <a:endParaRPr lang="en-US" sz="1150" dirty="0"/>
          </a:p>
        </p:txBody>
      </p:sp>
      <p:sp>
        <p:nvSpPr>
          <p:cNvPr id="28" name="Text 22"/>
          <p:cNvSpPr txBox="1"/>
          <p:nvPr/>
        </p:nvSpPr>
        <p:spPr>
          <a:xfrm>
            <a:off x="5394960" y="3749040"/>
            <a:ext cx="59737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FE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5.  NavigationNode</a:t>
            </a:r>
            <a:endParaRPr lang="en-US" sz="1150" dirty="0"/>
          </a:p>
        </p:txBody>
      </p:sp>
      <p:sp>
        <p:nvSpPr>
          <p:cNvPr id="29" name="Text 23"/>
          <p:cNvSpPr txBox="1"/>
          <p:nvPr/>
        </p:nvSpPr>
        <p:spPr>
          <a:xfrm>
            <a:off x="5394960" y="4023360"/>
            <a:ext cx="59737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6.  Route</a:t>
            </a:r>
            <a:endParaRPr lang="en-US" sz="1150" dirty="0"/>
          </a:p>
        </p:txBody>
      </p:sp>
      <p:sp>
        <p:nvSpPr>
          <p:cNvPr id="30" name="Shape 24"/>
          <p:cNvSpPr/>
          <p:nvPr/>
        </p:nvSpPr>
        <p:spPr>
          <a:xfrm>
            <a:off x="5120640" y="4480560"/>
            <a:ext cx="6522415" cy="1463040"/>
          </a:xfrm>
          <a:prstGeom prst="roundRect">
            <a:avLst>
              <a:gd name="adj" fmla="val 7500"/>
            </a:avLst>
          </a:prstGeom>
          <a:solidFill>
            <a:srgbClr val="EAF6F4"/>
          </a:solidFill>
          <a:ln/>
          <a:effectLst>
            <a:outerShdw sx="100000" sy="100000" kx="0" ky="0" algn="bl" rotWithShape="0" blurRad="101600" dist="25400" dir="5400000">
              <a:srgbClr val="1B3A38">
                <a:alpha val="15000"/>
              </a:srgbClr>
            </a:outerShdw>
          </a:effectLst>
        </p:spPr>
      </p:sp>
      <p:sp>
        <p:nvSpPr>
          <p:cNvPr id="31" name="Text 25"/>
          <p:cNvSpPr txBox="1"/>
          <p:nvPr/>
        </p:nvSpPr>
        <p:spPr>
          <a:xfrm>
            <a:off x="5394960" y="4617720"/>
            <a:ext cx="5973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Modular monolith, ไม่ใช่ microservices</a:t>
            </a:r>
            <a:endParaRPr lang="en-US" sz="1300" dirty="0"/>
          </a:p>
        </p:txBody>
      </p:sp>
      <p:sp>
        <p:nvSpPr>
          <p:cNvPr id="32" name="Text 26"/>
          <p:cNvSpPr txBox="1"/>
          <p:nvPr/>
        </p:nvSpPr>
        <p:spPr>
          <a:xfrm>
            <a:off x="5394960" y="4983480"/>
            <a:ext cx="59737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6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เจตนาเพื่อความเร็วในการประสานงานทีมตอนนี้ แต่ละโมดูลมีขอบเขต (hexagonal) ชัดเจน แยกออกไปเป็นบริการเดี่ยวภายหลังได้โดยไม่ต้องเขียนใหม่</a:t>
            </a:r>
            <a:endParaRPr lang="en-US" sz="1150" dirty="0"/>
          </a:p>
        </p:txBody>
      </p:sp>
      <p:sp>
        <p:nvSpPr>
          <p:cNvPr id="34" name="Text 27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2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754880" cy="4754880"/>
          </a:xfrm>
          <a:prstGeom prst="ellipse">
            <a:avLst/>
          </a:prstGeom>
          <a:solidFill>
            <a:srgbClr val="0F3A3E"/>
          </a:solidFill>
          <a:ln/>
        </p:spPr>
      </p:sp>
      <p:sp>
        <p:nvSpPr>
          <p:cNvPr id="3" name="Shape 1"/>
          <p:cNvSpPr/>
          <p:nvPr/>
        </p:nvSpPr>
        <p:spPr>
          <a:xfrm>
            <a:off x="-1280160" y="5212080"/>
            <a:ext cx="3108960" cy="3108960"/>
          </a:xfrm>
          <a:prstGeom prst="ellipse">
            <a:avLst/>
          </a:prstGeom>
          <a:solidFill>
            <a:srgbClr val="0F3A3E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188720"/>
            <a:ext cx="777240" cy="77724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1389888"/>
            <a:ext cx="374904" cy="3749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2148840"/>
            <a:ext cx="9601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ขอบคุณครับ</a:t>
            </a:r>
            <a:endParaRPr lang="en-US" sz="4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15468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BFE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พร้อมตอบคำถาม — Q&amp;A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57607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ทีม OST-1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BFE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นายสมประสงค์ ดำยศ  ·  นายปฐมพงศ์ พรนราดล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2026-09-20T06:31:01Z</dcterms:created>
  <dcterms:modified xsi:type="dcterms:W3CDTF">2026-09-20T06:31:01Z</dcterms:modified>
</cp:coreProperties>
</file>